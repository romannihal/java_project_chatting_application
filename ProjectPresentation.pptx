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handoutMasterIdLst>
    <p:handoutMasterId r:id="rId21"/>
  </p:handoutMasterIdLst>
  <p:sldIdLst>
    <p:sldId id="256" r:id="rId2"/>
    <p:sldId id="268" r:id="rId3"/>
    <p:sldId id="276" r:id="rId4"/>
    <p:sldId id="266" r:id="rId5"/>
    <p:sldId id="271" r:id="rId6"/>
    <p:sldId id="263" r:id="rId7"/>
    <p:sldId id="275" r:id="rId8"/>
    <p:sldId id="280" r:id="rId9"/>
    <p:sldId id="283" r:id="rId10"/>
    <p:sldId id="286" r:id="rId11"/>
    <p:sldId id="292" r:id="rId12"/>
    <p:sldId id="287" r:id="rId13"/>
    <p:sldId id="288" r:id="rId14"/>
    <p:sldId id="289" r:id="rId15"/>
    <p:sldId id="290" r:id="rId16"/>
    <p:sldId id="291" r:id="rId17"/>
    <p:sldId id="294" r:id="rId18"/>
    <p:sldId id="27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58" autoAdjust="0"/>
    <p:restoredTop sz="67487" autoAdjust="0"/>
  </p:normalViewPr>
  <p:slideViewPr>
    <p:cSldViewPr snapToGrid="0">
      <p:cViewPr varScale="1">
        <p:scale>
          <a:sx n="57" d="100"/>
          <a:sy n="57" d="100"/>
        </p:scale>
        <p:origin x="78" y="1308"/>
      </p:cViewPr>
      <p:guideLst/>
    </p:cSldViewPr>
  </p:slideViewPr>
  <p:notesTextViewPr>
    <p:cViewPr>
      <p:scale>
        <a:sx n="1" d="1"/>
        <a:sy n="1" d="1"/>
      </p:scale>
      <p:origin x="0" y="0"/>
    </p:cViewPr>
  </p:notesTextViewPr>
  <p:notesViewPr>
    <p:cSldViewPr snapToGrid="0">
      <p:cViewPr varScale="1">
        <p:scale>
          <a:sx n="60" d="100"/>
          <a:sy n="60" d="100"/>
        </p:scale>
        <p:origin x="1670"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A2E547D-1406-4A6F-8F93-E441204CE6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667F8A-B889-49B3-AC77-5DDF11A08AF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3B2889B-A0AC-4482-8592-5C96F2309420}" type="datetimeFigureOut">
              <a:rPr lang="en-US" smtClean="0"/>
              <a:t>12/30/2023</a:t>
            </a:fld>
            <a:endParaRPr lang="en-US"/>
          </a:p>
        </p:txBody>
      </p:sp>
      <p:sp>
        <p:nvSpPr>
          <p:cNvPr id="4" name="Footer Placeholder 3">
            <a:extLst>
              <a:ext uri="{FF2B5EF4-FFF2-40B4-BE49-F238E27FC236}">
                <a16:creationId xmlns:a16="http://schemas.microsoft.com/office/drawing/2014/main" id="{567AFD4F-C0E7-421C-AF77-6F9CC963C9C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074AB9F-6726-4FB1-8769-82E23336CE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529299-61FF-4B93-ADA6-2FD5975D62F6}" type="slidenum">
              <a:rPr lang="en-US" smtClean="0"/>
              <a:t>‹#›</a:t>
            </a:fld>
            <a:endParaRPr lang="en-US"/>
          </a:p>
        </p:txBody>
      </p:sp>
    </p:spTree>
    <p:extLst>
      <p:ext uri="{BB962C8B-B14F-4D97-AF65-F5344CB8AC3E}">
        <p14:creationId xmlns:p14="http://schemas.microsoft.com/office/powerpoint/2010/main" val="1416270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EB223-FFC0-462A-A3B8-EAA7CE0F8CBD}" type="datetimeFigureOut">
              <a:rPr lang="en-US" smtClean="0"/>
              <a:t>12/30/2023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849E9A-41F7-4779-A581-48A7C374A227}" type="slidenum">
              <a:rPr lang="en-US" smtClean="0"/>
              <a:t>‹#›</a:t>
            </a:fld>
            <a:endParaRPr lang="en-US" dirty="0"/>
          </a:p>
        </p:txBody>
      </p:sp>
    </p:spTree>
    <p:extLst>
      <p:ext uri="{BB962C8B-B14F-4D97-AF65-F5344CB8AC3E}">
        <p14:creationId xmlns:p14="http://schemas.microsoft.com/office/powerpoint/2010/main" val="1155518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2</a:t>
            </a:fld>
            <a:endParaRPr lang="en-US" dirty="0"/>
          </a:p>
        </p:txBody>
      </p:sp>
    </p:spTree>
    <p:extLst>
      <p:ext uri="{BB962C8B-B14F-4D97-AF65-F5344CB8AC3E}">
        <p14:creationId xmlns:p14="http://schemas.microsoft.com/office/powerpoint/2010/main" val="41921025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3</a:t>
            </a:fld>
            <a:endParaRPr lang="en-US" dirty="0"/>
          </a:p>
        </p:txBody>
      </p:sp>
    </p:spTree>
    <p:extLst>
      <p:ext uri="{BB962C8B-B14F-4D97-AF65-F5344CB8AC3E}">
        <p14:creationId xmlns:p14="http://schemas.microsoft.com/office/powerpoint/2010/main" val="3275084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4</a:t>
            </a:fld>
            <a:endParaRPr lang="en-US" dirty="0"/>
          </a:p>
        </p:txBody>
      </p:sp>
    </p:spTree>
    <p:extLst>
      <p:ext uri="{BB962C8B-B14F-4D97-AF65-F5344CB8AC3E}">
        <p14:creationId xmlns:p14="http://schemas.microsoft.com/office/powerpoint/2010/main" val="2295961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When conducting research, it is easy to go to one source: Wikipedia.  However, you need to include a variety of sources in your research. Consider the following sources: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Who can I interview to get more information on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 topic current and will it be relevant to my audience?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articles, blogs, and magazines may have something related to my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Is there a YouTube video on the topic? If so, what is it about?</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What images can I find related to the topic?</a:t>
            </a:r>
          </a:p>
        </p:txBody>
      </p:sp>
      <p:sp>
        <p:nvSpPr>
          <p:cNvPr id="4" name="Slide Number Placeholder 3"/>
          <p:cNvSpPr>
            <a:spLocks noGrp="1"/>
          </p:cNvSpPr>
          <p:nvPr>
            <p:ph type="sldNum" sz="quarter" idx="10"/>
          </p:nvPr>
        </p:nvSpPr>
        <p:spPr/>
        <p:txBody>
          <a:bodyPr/>
          <a:lstStyle/>
          <a:p>
            <a:fld id="{BC849E9A-41F7-4779-A581-48A7C374A227}" type="slidenum">
              <a:rPr lang="en-US" smtClean="0"/>
              <a:t>5</a:t>
            </a:fld>
            <a:endParaRPr lang="en-US" dirty="0"/>
          </a:p>
        </p:txBody>
      </p:sp>
    </p:spTree>
    <p:extLst>
      <p:ext uri="{BB962C8B-B14F-4D97-AF65-F5344CB8AC3E}">
        <p14:creationId xmlns:p14="http://schemas.microsoft.com/office/powerpoint/2010/main" val="3176010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Now, that you have narrowed your topic, you will want to organize your research in a structure that works.  There are some common organizational patterns based on the kind of research you are doing.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Organizational Structures: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Cause and Effect- this kind of structure is great for explaining the causes and effects of a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Compare and Contrast- in this pattern you highlight the similarities and differences of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Explain process- this structure is great for outlining a series of steps to follow;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Definition- if you want to make sure your audience understands what something is using illustrations, meanings, clarifying misconceptions, you may want to use this structure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Classification- a common organizational structure is grouping like topics or facts from the research together.  For instance, in the internet safety about social media apps, you may organize the research where you look at each social media app one at a time</a:t>
            </a:r>
          </a:p>
        </p:txBody>
      </p:sp>
      <p:sp>
        <p:nvSpPr>
          <p:cNvPr id="4" name="Slide Number Placeholder 3"/>
          <p:cNvSpPr>
            <a:spLocks noGrp="1"/>
          </p:cNvSpPr>
          <p:nvPr>
            <p:ph type="sldNum" sz="quarter" idx="10"/>
          </p:nvPr>
        </p:nvSpPr>
        <p:spPr/>
        <p:txBody>
          <a:bodyPr/>
          <a:lstStyle/>
          <a:p>
            <a:fld id="{BC849E9A-41F7-4779-A581-48A7C374A227}" type="slidenum">
              <a:rPr lang="en-US" smtClean="0"/>
              <a:t>6</a:t>
            </a:fld>
            <a:endParaRPr lang="en-US" dirty="0"/>
          </a:p>
        </p:txBody>
      </p:sp>
    </p:spTree>
    <p:extLst>
      <p:ext uri="{BB962C8B-B14F-4D97-AF65-F5344CB8AC3E}">
        <p14:creationId xmlns:p14="http://schemas.microsoft.com/office/powerpoint/2010/main" val="1825341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Now, that you have narrowed your topic, you will want to organize your research in a structure that works.  There are some common organizational patterns based on the kind of research you are doing.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Organizational Structures: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Cause and Effect- this kind of structure is great for explaining the causes and effects of a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Compare and Contrast- in this pattern you highlight the similarities and differences of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Explain process- this structure is great for outlining a series of steps to follow;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Definition- if you want to make sure your audience understands what something is using illustrations, meanings, clarifying misconceptions, you may want to use this structure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Classification- a common organizational structure is grouping like topics or facts from the research together.  For instance, in the internet safety about social media apps, you may organize the research where you look at each social media app one at a time</a:t>
            </a:r>
          </a:p>
        </p:txBody>
      </p:sp>
      <p:sp>
        <p:nvSpPr>
          <p:cNvPr id="4" name="Slide Number Placeholder 3"/>
          <p:cNvSpPr>
            <a:spLocks noGrp="1"/>
          </p:cNvSpPr>
          <p:nvPr>
            <p:ph type="sldNum" sz="quarter" idx="10"/>
          </p:nvPr>
        </p:nvSpPr>
        <p:spPr/>
        <p:txBody>
          <a:bodyPr/>
          <a:lstStyle/>
          <a:p>
            <a:fld id="{BC849E9A-41F7-4779-A581-48A7C374A227}" type="slidenum">
              <a:rPr lang="en-US" smtClean="0"/>
              <a:t>7</a:t>
            </a:fld>
            <a:endParaRPr lang="en-US" dirty="0"/>
          </a:p>
        </p:txBody>
      </p:sp>
    </p:spTree>
    <p:extLst>
      <p:ext uri="{BB962C8B-B14F-4D97-AF65-F5344CB8AC3E}">
        <p14:creationId xmlns:p14="http://schemas.microsoft.com/office/powerpoint/2010/main" val="838677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Now, that you have narrowed your topic, you will want to organize your research in a structure that works.  There are some common organizational patterns based on the kind of research you are doing.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Organizational Structures: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Cause and Effect- this kind of structure is great for explaining the causes and effects of a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Compare and Contrast- in this pattern you highlight the similarities and differences of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Explain process- this structure is great for outlining a series of steps to follow;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Definition- if you want to make sure your audience understands what something is using illustrations, meanings, clarifying misconceptions, you may want to use this structure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Classification- a common organizational structure is grouping like topics or facts from the research together.  For instance, in the internet safety about social media apps, you may organize the research where you look at each social media app one at a time</a:t>
            </a:r>
          </a:p>
        </p:txBody>
      </p:sp>
      <p:sp>
        <p:nvSpPr>
          <p:cNvPr id="4" name="Slide Number Placeholder 3"/>
          <p:cNvSpPr>
            <a:spLocks noGrp="1"/>
          </p:cNvSpPr>
          <p:nvPr>
            <p:ph type="sldNum" sz="quarter" idx="10"/>
          </p:nvPr>
        </p:nvSpPr>
        <p:spPr/>
        <p:txBody>
          <a:bodyPr/>
          <a:lstStyle/>
          <a:p>
            <a:fld id="{BC849E9A-41F7-4779-A581-48A7C374A227}" type="slidenum">
              <a:rPr lang="en-US" smtClean="0"/>
              <a:t>8</a:t>
            </a:fld>
            <a:endParaRPr lang="en-US" dirty="0"/>
          </a:p>
        </p:txBody>
      </p:sp>
    </p:spTree>
    <p:extLst>
      <p:ext uri="{BB962C8B-B14F-4D97-AF65-F5344CB8AC3E}">
        <p14:creationId xmlns:p14="http://schemas.microsoft.com/office/powerpoint/2010/main" val="2870704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Now, that you have narrowed your topic, you will want to organize your research in a structure that works.  There are some common organizational patterns based on the kind of research you are doing.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Organizational Structures: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Cause and Effect- this kind of structure is great for explaining the causes and effects of a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Compare and Contrast- in this pattern you highlight the similarities and differences of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Explain process- this structure is great for outlining a series of steps to follow;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Definition- if you want to make sure your audience understands what something is using illustrations, meanings, clarifying misconceptions, you may want to use this structure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Classification- a common organizational structure is grouping like topics or facts from the research together.  For instance, in the internet safety about social media apps, you may organize the research where you look at each social media app one at a time</a:t>
            </a:r>
          </a:p>
        </p:txBody>
      </p:sp>
      <p:sp>
        <p:nvSpPr>
          <p:cNvPr id="4" name="Slide Number Placeholder 3"/>
          <p:cNvSpPr>
            <a:spLocks noGrp="1"/>
          </p:cNvSpPr>
          <p:nvPr>
            <p:ph type="sldNum" sz="quarter" idx="10"/>
          </p:nvPr>
        </p:nvSpPr>
        <p:spPr/>
        <p:txBody>
          <a:bodyPr/>
          <a:lstStyle/>
          <a:p>
            <a:fld id="{BC849E9A-41F7-4779-A581-48A7C374A227}" type="slidenum">
              <a:rPr lang="en-US" smtClean="0"/>
              <a:t>9</a:t>
            </a:fld>
            <a:endParaRPr lang="en-US" dirty="0"/>
          </a:p>
        </p:txBody>
      </p:sp>
    </p:spTree>
    <p:extLst>
      <p:ext uri="{BB962C8B-B14F-4D97-AF65-F5344CB8AC3E}">
        <p14:creationId xmlns:p14="http://schemas.microsoft.com/office/powerpoint/2010/main" val="670646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Now, that you have narrowed your topic, you will want to organize your research in a structure that works.  There are some common organizational patterns based on the kind of research you are doing.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Organizational Structures: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Cause and Effect- this kind of structure is great for explaining the causes and effects of a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Compare and Contrast- in this pattern you highlight the similarities and differences of the topic</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Explain process- this structure is great for outlining a series of steps to follow; </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Definition- if you want to make sure your audience understands what something is using illustrations, meanings, clarifying misconceptions, you may want to use this structure</a:t>
            </a:r>
          </a:p>
          <a:p>
            <a:pPr marL="171450" indent="-171450">
              <a:buFont typeface="Arial" panose="020B0604020202020204" pitchFamily="34" charset="0"/>
              <a:buChar char="•"/>
            </a:pPr>
            <a:r>
              <a:rPr lang="en-US" dirty="0">
                <a:latin typeface="Segoe UI" panose="020B0502040204020203" pitchFamily="34" charset="0"/>
                <a:cs typeface="Segoe UI" panose="020B0502040204020203" pitchFamily="34" charset="0"/>
              </a:rPr>
              <a:t>Classification- a common organizational structure is grouping like topics or facts from the research together.  For instance, in the internet safety about social media apps, you may organize the research where you look at each social media app one at a time</a:t>
            </a:r>
          </a:p>
        </p:txBody>
      </p:sp>
      <p:sp>
        <p:nvSpPr>
          <p:cNvPr id="4" name="Slide Number Placeholder 3"/>
          <p:cNvSpPr>
            <a:spLocks noGrp="1"/>
          </p:cNvSpPr>
          <p:nvPr>
            <p:ph type="sldNum" sz="quarter" idx="10"/>
          </p:nvPr>
        </p:nvSpPr>
        <p:spPr/>
        <p:txBody>
          <a:bodyPr/>
          <a:lstStyle/>
          <a:p>
            <a:fld id="{BC849E9A-41F7-4779-A581-48A7C374A227}" type="slidenum">
              <a:rPr lang="en-US" smtClean="0"/>
              <a:t>10</a:t>
            </a:fld>
            <a:endParaRPr lang="en-US" dirty="0"/>
          </a:p>
        </p:txBody>
      </p:sp>
    </p:spTree>
    <p:extLst>
      <p:ext uri="{BB962C8B-B14F-4D97-AF65-F5344CB8AC3E}">
        <p14:creationId xmlns:p14="http://schemas.microsoft.com/office/powerpoint/2010/main" val="2252971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latin typeface="Segoe UI" panose="020B0502040204020203" pitchFamily="34" charset="0"/>
                <a:cs typeface="Segoe UI" panose="020B0502040204020203" pitchFamily="34" charset="0"/>
              </a:rPr>
              <a:t>Once you find your sources, you will want to evaluate your sources using the following questions: </a:t>
            </a:r>
          </a:p>
          <a:p>
            <a:endParaRPr lang="en-US" i="0" dirty="0">
              <a:latin typeface="Segoe UI" panose="020B0502040204020203" pitchFamily="34" charset="0"/>
              <a:cs typeface="Segoe UI" panose="020B0502040204020203" pitchFamily="34" charset="0"/>
            </a:endParaRPr>
          </a:p>
          <a:p>
            <a:r>
              <a:rPr lang="en-US" b="1" i="0" dirty="0">
                <a:latin typeface="Segoe UI" panose="020B0502040204020203" pitchFamily="34" charset="0"/>
                <a:cs typeface="Segoe UI" panose="020B0502040204020203" pitchFamily="34" charset="0"/>
              </a:rPr>
              <a:t>Author: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Who is the author?</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Why should I believe what he or she has to say on the topic?</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author seen as an expert on the topic? How do you know?</a:t>
            </a:r>
          </a:p>
          <a:p>
            <a:pPr marL="171450" indent="-171450">
              <a:buFont typeface="Arial" panose="020B0604020202020204" pitchFamily="34" charset="0"/>
              <a:buChar char="•"/>
            </a:pPr>
            <a:endParaRPr lang="en-US"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Current: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How current is the information in the source?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When was the source published?</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out-of-date?</a:t>
            </a:r>
          </a:p>
          <a:p>
            <a:pPr marL="171450" indent="-171450">
              <a:buFont typeface="Arial" panose="020B0604020202020204" pitchFamily="34" charset="0"/>
              <a:buChar char="•"/>
            </a:pPr>
            <a:endParaRPr lang="en-US" b="1"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Accuracy: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content accurate?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presented objectively?  Do they share the pros and cons?</a:t>
            </a:r>
          </a:p>
        </p:txBody>
      </p:sp>
      <p:sp>
        <p:nvSpPr>
          <p:cNvPr id="4" name="Slide Number Placeholder 3"/>
          <p:cNvSpPr>
            <a:spLocks noGrp="1"/>
          </p:cNvSpPr>
          <p:nvPr>
            <p:ph type="sldNum" sz="quarter" idx="10"/>
          </p:nvPr>
        </p:nvSpPr>
        <p:spPr/>
        <p:txBody>
          <a:bodyPr/>
          <a:lstStyle/>
          <a:p>
            <a:fld id="{BC849E9A-41F7-4779-A581-48A7C374A227}" type="slidenum">
              <a:rPr lang="en-US" smtClean="0"/>
              <a:t>11</a:t>
            </a:fld>
            <a:endParaRPr lang="en-US" dirty="0"/>
          </a:p>
        </p:txBody>
      </p:sp>
    </p:spTree>
    <p:extLst>
      <p:ext uri="{BB962C8B-B14F-4D97-AF65-F5344CB8AC3E}">
        <p14:creationId xmlns:p14="http://schemas.microsoft.com/office/powerpoint/2010/main" val="631545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latin typeface="Segoe UI" panose="020B0502040204020203" pitchFamily="34" charset="0"/>
                <a:cs typeface="Segoe UI" panose="020B0502040204020203" pitchFamily="34" charset="0"/>
              </a:rPr>
              <a:t>Once you find your sources, you will want to evaluate your sources using the following questions: </a:t>
            </a:r>
          </a:p>
          <a:p>
            <a:endParaRPr lang="en-US" i="0" dirty="0">
              <a:latin typeface="Segoe UI" panose="020B0502040204020203" pitchFamily="34" charset="0"/>
              <a:cs typeface="Segoe UI" panose="020B0502040204020203" pitchFamily="34" charset="0"/>
            </a:endParaRPr>
          </a:p>
          <a:p>
            <a:r>
              <a:rPr lang="en-US" b="1" i="0" dirty="0">
                <a:latin typeface="Segoe UI" panose="020B0502040204020203" pitchFamily="34" charset="0"/>
                <a:cs typeface="Segoe UI" panose="020B0502040204020203" pitchFamily="34" charset="0"/>
              </a:rPr>
              <a:t>Author: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Who is the author?</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Why should I believe what he or she has to say on the topic?</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author seen as an expert on the topic? How do you know?</a:t>
            </a:r>
          </a:p>
          <a:p>
            <a:pPr marL="171450" indent="-171450">
              <a:buFont typeface="Arial" panose="020B0604020202020204" pitchFamily="34" charset="0"/>
              <a:buChar char="•"/>
            </a:pPr>
            <a:endParaRPr lang="en-US"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Current: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How current is the information in the source?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When was the source published?</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out-of-date?</a:t>
            </a:r>
          </a:p>
          <a:p>
            <a:pPr marL="171450" indent="-171450">
              <a:buFont typeface="Arial" panose="020B0604020202020204" pitchFamily="34" charset="0"/>
              <a:buChar char="•"/>
            </a:pPr>
            <a:endParaRPr lang="en-US" b="1"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Accuracy: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content accurate?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presented objectively?  Do they share the pros and cons?</a:t>
            </a:r>
          </a:p>
        </p:txBody>
      </p:sp>
      <p:sp>
        <p:nvSpPr>
          <p:cNvPr id="4" name="Slide Number Placeholder 3"/>
          <p:cNvSpPr>
            <a:spLocks noGrp="1"/>
          </p:cNvSpPr>
          <p:nvPr>
            <p:ph type="sldNum" sz="quarter" idx="10"/>
          </p:nvPr>
        </p:nvSpPr>
        <p:spPr/>
        <p:txBody>
          <a:bodyPr/>
          <a:lstStyle/>
          <a:p>
            <a:fld id="{BC849E9A-41F7-4779-A581-48A7C374A227}" type="slidenum">
              <a:rPr lang="en-US" smtClean="0"/>
              <a:t>12</a:t>
            </a:fld>
            <a:endParaRPr lang="en-US" dirty="0"/>
          </a:p>
        </p:txBody>
      </p:sp>
    </p:spTree>
    <p:extLst>
      <p:ext uri="{BB962C8B-B14F-4D97-AF65-F5344CB8AC3E}">
        <p14:creationId xmlns:p14="http://schemas.microsoft.com/office/powerpoint/2010/main" val="2440439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latin typeface="Segoe UI" panose="020B0502040204020203" pitchFamily="34" charset="0"/>
                <a:cs typeface="Segoe UI" panose="020B0502040204020203" pitchFamily="34" charset="0"/>
              </a:rPr>
              <a:t>Once you find your sources, you will want to evaluate your sources using the following questions: </a:t>
            </a:r>
          </a:p>
          <a:p>
            <a:endParaRPr lang="en-US" i="0" dirty="0">
              <a:latin typeface="Segoe UI" panose="020B0502040204020203" pitchFamily="34" charset="0"/>
              <a:cs typeface="Segoe UI" panose="020B0502040204020203" pitchFamily="34" charset="0"/>
            </a:endParaRPr>
          </a:p>
          <a:p>
            <a:r>
              <a:rPr lang="en-US" b="1" i="0" dirty="0">
                <a:latin typeface="Segoe UI" panose="020B0502040204020203" pitchFamily="34" charset="0"/>
                <a:cs typeface="Segoe UI" panose="020B0502040204020203" pitchFamily="34" charset="0"/>
              </a:rPr>
              <a:t>Author: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Who is the author?</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Why should I believe what he or she has to say on the topic?</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author seen as an expert on the topic? How do you know?</a:t>
            </a:r>
          </a:p>
          <a:p>
            <a:pPr marL="171450" indent="-171450">
              <a:buFont typeface="Arial" panose="020B0604020202020204" pitchFamily="34" charset="0"/>
              <a:buChar char="•"/>
            </a:pPr>
            <a:endParaRPr lang="en-US"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Current: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How current is the information in the source?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When was the source published?</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out-of-date?</a:t>
            </a:r>
          </a:p>
          <a:p>
            <a:pPr marL="171450" indent="-171450">
              <a:buFont typeface="Arial" panose="020B0604020202020204" pitchFamily="34" charset="0"/>
              <a:buChar char="•"/>
            </a:pPr>
            <a:endParaRPr lang="en-US" b="1"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Accuracy: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content accurate?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presented objectively?  Do they share the pros and cons?</a:t>
            </a:r>
          </a:p>
        </p:txBody>
      </p:sp>
      <p:sp>
        <p:nvSpPr>
          <p:cNvPr id="4" name="Slide Number Placeholder 3"/>
          <p:cNvSpPr>
            <a:spLocks noGrp="1"/>
          </p:cNvSpPr>
          <p:nvPr>
            <p:ph type="sldNum" sz="quarter" idx="10"/>
          </p:nvPr>
        </p:nvSpPr>
        <p:spPr/>
        <p:txBody>
          <a:bodyPr/>
          <a:lstStyle/>
          <a:p>
            <a:fld id="{BC849E9A-41F7-4779-A581-48A7C374A227}" type="slidenum">
              <a:rPr lang="en-US" smtClean="0"/>
              <a:t>13</a:t>
            </a:fld>
            <a:endParaRPr lang="en-US" dirty="0"/>
          </a:p>
        </p:txBody>
      </p:sp>
    </p:spTree>
    <p:extLst>
      <p:ext uri="{BB962C8B-B14F-4D97-AF65-F5344CB8AC3E}">
        <p14:creationId xmlns:p14="http://schemas.microsoft.com/office/powerpoint/2010/main" val="22739259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latin typeface="Segoe UI" panose="020B0502040204020203" pitchFamily="34" charset="0"/>
                <a:cs typeface="Segoe UI" panose="020B0502040204020203" pitchFamily="34" charset="0"/>
              </a:rPr>
              <a:t>Once you find your sources, you will want to evaluate your sources using the following questions: </a:t>
            </a:r>
          </a:p>
          <a:p>
            <a:endParaRPr lang="en-US" i="0" dirty="0">
              <a:latin typeface="Segoe UI" panose="020B0502040204020203" pitchFamily="34" charset="0"/>
              <a:cs typeface="Segoe UI" panose="020B0502040204020203" pitchFamily="34" charset="0"/>
            </a:endParaRPr>
          </a:p>
          <a:p>
            <a:r>
              <a:rPr lang="en-US" b="1" i="0" dirty="0">
                <a:latin typeface="Segoe UI" panose="020B0502040204020203" pitchFamily="34" charset="0"/>
                <a:cs typeface="Segoe UI" panose="020B0502040204020203" pitchFamily="34" charset="0"/>
              </a:rPr>
              <a:t>Author: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Who is the author?</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Why should I believe what he or she has to say on the topic?</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author seen as an expert on the topic? How do you know?</a:t>
            </a:r>
          </a:p>
          <a:p>
            <a:pPr marL="171450" indent="-171450">
              <a:buFont typeface="Arial" panose="020B0604020202020204" pitchFamily="34" charset="0"/>
              <a:buChar char="•"/>
            </a:pPr>
            <a:endParaRPr lang="en-US"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Current: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How current is the information in the source?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When was the source published?</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out-of-date?</a:t>
            </a:r>
          </a:p>
          <a:p>
            <a:pPr marL="171450" indent="-171450">
              <a:buFont typeface="Arial" panose="020B0604020202020204" pitchFamily="34" charset="0"/>
              <a:buChar char="•"/>
            </a:pPr>
            <a:endParaRPr lang="en-US" b="1"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Accuracy: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content accurate?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presented objectively?  Do they share the pros and cons?</a:t>
            </a:r>
          </a:p>
        </p:txBody>
      </p:sp>
      <p:sp>
        <p:nvSpPr>
          <p:cNvPr id="4" name="Slide Number Placeholder 3"/>
          <p:cNvSpPr>
            <a:spLocks noGrp="1"/>
          </p:cNvSpPr>
          <p:nvPr>
            <p:ph type="sldNum" sz="quarter" idx="10"/>
          </p:nvPr>
        </p:nvSpPr>
        <p:spPr/>
        <p:txBody>
          <a:bodyPr/>
          <a:lstStyle/>
          <a:p>
            <a:fld id="{BC849E9A-41F7-4779-A581-48A7C374A227}" type="slidenum">
              <a:rPr lang="en-US" smtClean="0"/>
              <a:t>14</a:t>
            </a:fld>
            <a:endParaRPr lang="en-US" dirty="0"/>
          </a:p>
        </p:txBody>
      </p:sp>
    </p:spTree>
    <p:extLst>
      <p:ext uri="{BB962C8B-B14F-4D97-AF65-F5344CB8AC3E}">
        <p14:creationId xmlns:p14="http://schemas.microsoft.com/office/powerpoint/2010/main" val="2931972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latin typeface="Segoe UI" panose="020B0502040204020203" pitchFamily="34" charset="0"/>
                <a:cs typeface="Segoe UI" panose="020B0502040204020203" pitchFamily="34" charset="0"/>
              </a:rPr>
              <a:t>Once you find your sources, you will want to evaluate your sources using the following questions: </a:t>
            </a:r>
          </a:p>
          <a:p>
            <a:endParaRPr lang="en-US" i="0" dirty="0">
              <a:latin typeface="Segoe UI" panose="020B0502040204020203" pitchFamily="34" charset="0"/>
              <a:cs typeface="Segoe UI" panose="020B0502040204020203" pitchFamily="34" charset="0"/>
            </a:endParaRPr>
          </a:p>
          <a:p>
            <a:r>
              <a:rPr lang="en-US" b="1" i="0" dirty="0">
                <a:latin typeface="Segoe UI" panose="020B0502040204020203" pitchFamily="34" charset="0"/>
                <a:cs typeface="Segoe UI" panose="020B0502040204020203" pitchFamily="34" charset="0"/>
              </a:rPr>
              <a:t>Author: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Who is the author?</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Why should I believe what he or she has to say on the topic?</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author seen as an expert on the topic? How do you know?</a:t>
            </a:r>
          </a:p>
          <a:p>
            <a:pPr marL="171450" indent="-171450">
              <a:buFont typeface="Arial" panose="020B0604020202020204" pitchFamily="34" charset="0"/>
              <a:buChar char="•"/>
            </a:pPr>
            <a:endParaRPr lang="en-US"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Current: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How current is the information in the source?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When was the source published?</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out-of-date?</a:t>
            </a:r>
          </a:p>
          <a:p>
            <a:pPr marL="171450" indent="-171450">
              <a:buFont typeface="Arial" panose="020B0604020202020204" pitchFamily="34" charset="0"/>
              <a:buChar char="•"/>
            </a:pPr>
            <a:endParaRPr lang="en-US" b="1"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Accuracy: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content accurate?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presented objectively?  Do they share the pros and cons?</a:t>
            </a:r>
          </a:p>
        </p:txBody>
      </p:sp>
      <p:sp>
        <p:nvSpPr>
          <p:cNvPr id="4" name="Slide Number Placeholder 3"/>
          <p:cNvSpPr>
            <a:spLocks noGrp="1"/>
          </p:cNvSpPr>
          <p:nvPr>
            <p:ph type="sldNum" sz="quarter" idx="10"/>
          </p:nvPr>
        </p:nvSpPr>
        <p:spPr/>
        <p:txBody>
          <a:bodyPr/>
          <a:lstStyle/>
          <a:p>
            <a:fld id="{BC849E9A-41F7-4779-A581-48A7C374A227}" type="slidenum">
              <a:rPr lang="en-US" smtClean="0"/>
              <a:t>15</a:t>
            </a:fld>
            <a:endParaRPr lang="en-US" dirty="0"/>
          </a:p>
        </p:txBody>
      </p:sp>
    </p:spTree>
    <p:extLst>
      <p:ext uri="{BB962C8B-B14F-4D97-AF65-F5344CB8AC3E}">
        <p14:creationId xmlns:p14="http://schemas.microsoft.com/office/powerpoint/2010/main" val="16981276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latin typeface="Segoe UI" panose="020B0502040204020203" pitchFamily="34" charset="0"/>
                <a:cs typeface="Segoe UI" panose="020B0502040204020203" pitchFamily="34" charset="0"/>
              </a:rPr>
              <a:t>Once you find your sources, you will want to evaluate your sources using the following questions: </a:t>
            </a:r>
          </a:p>
          <a:p>
            <a:endParaRPr lang="en-US" i="0" dirty="0">
              <a:latin typeface="Segoe UI" panose="020B0502040204020203" pitchFamily="34" charset="0"/>
              <a:cs typeface="Segoe UI" panose="020B0502040204020203" pitchFamily="34" charset="0"/>
            </a:endParaRPr>
          </a:p>
          <a:p>
            <a:r>
              <a:rPr lang="en-US" b="1" i="0" dirty="0">
                <a:latin typeface="Segoe UI" panose="020B0502040204020203" pitchFamily="34" charset="0"/>
                <a:cs typeface="Segoe UI" panose="020B0502040204020203" pitchFamily="34" charset="0"/>
              </a:rPr>
              <a:t>Author: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Who is the author?</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Why should I believe what he or she has to say on the topic?</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author seen as an expert on the topic? How do you know?</a:t>
            </a:r>
          </a:p>
          <a:p>
            <a:pPr marL="171450" indent="-171450">
              <a:buFont typeface="Arial" panose="020B0604020202020204" pitchFamily="34" charset="0"/>
              <a:buChar char="•"/>
            </a:pPr>
            <a:endParaRPr lang="en-US"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Current: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How current is the information in the source?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When was the source published?</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out-of-date?</a:t>
            </a:r>
          </a:p>
          <a:p>
            <a:pPr marL="171450" indent="-171450">
              <a:buFont typeface="Arial" panose="020B0604020202020204" pitchFamily="34" charset="0"/>
              <a:buChar char="•"/>
            </a:pPr>
            <a:endParaRPr lang="en-US" b="1" i="0" dirty="0">
              <a:latin typeface="Segoe UI" panose="020B0502040204020203" pitchFamily="34" charset="0"/>
              <a:cs typeface="Segoe UI" panose="020B0502040204020203" pitchFamily="34" charset="0"/>
            </a:endParaRPr>
          </a:p>
          <a:p>
            <a:pPr marL="0" indent="0">
              <a:buFont typeface="Arial" panose="020B0604020202020204" pitchFamily="34" charset="0"/>
              <a:buNone/>
            </a:pPr>
            <a:r>
              <a:rPr lang="en-US" b="1" i="0" dirty="0">
                <a:latin typeface="Segoe UI" panose="020B0502040204020203" pitchFamily="34" charset="0"/>
                <a:cs typeface="Segoe UI" panose="020B0502040204020203" pitchFamily="34" charset="0"/>
              </a:rPr>
              <a:t>Accuracy: </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content accurate?</a:t>
            </a:r>
          </a:p>
          <a:p>
            <a:pPr marL="171450" indent="-171450">
              <a:buFont typeface="Arial" panose="020B0604020202020204" pitchFamily="34" charset="0"/>
              <a:buChar char="•"/>
            </a:pPr>
            <a:r>
              <a:rPr lang="en-US" i="0" dirty="0">
                <a:latin typeface="Segoe UI" panose="020B0502040204020203" pitchFamily="34" charset="0"/>
                <a:cs typeface="Segoe UI" panose="020B0502040204020203" pitchFamily="34" charset="0"/>
              </a:rPr>
              <a:t>Is the information presented objectively?  Do they share the pros and cons?</a:t>
            </a:r>
          </a:p>
        </p:txBody>
      </p:sp>
      <p:sp>
        <p:nvSpPr>
          <p:cNvPr id="4" name="Slide Number Placeholder 3"/>
          <p:cNvSpPr>
            <a:spLocks noGrp="1"/>
          </p:cNvSpPr>
          <p:nvPr>
            <p:ph type="sldNum" sz="quarter" idx="10"/>
          </p:nvPr>
        </p:nvSpPr>
        <p:spPr/>
        <p:txBody>
          <a:bodyPr/>
          <a:lstStyle/>
          <a:p>
            <a:fld id="{BC849E9A-41F7-4779-A581-48A7C374A227}" type="slidenum">
              <a:rPr lang="en-US" smtClean="0"/>
              <a:t>16</a:t>
            </a:fld>
            <a:endParaRPr lang="en-US" dirty="0"/>
          </a:p>
        </p:txBody>
      </p:sp>
    </p:spTree>
    <p:extLst>
      <p:ext uri="{BB962C8B-B14F-4D97-AF65-F5344CB8AC3E}">
        <p14:creationId xmlns:p14="http://schemas.microsoft.com/office/powerpoint/2010/main" val="24130185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849E9A-41F7-4779-A581-48A7C374A227}" type="slidenum">
              <a:rPr lang="en-US" smtClean="0"/>
              <a:t>17</a:t>
            </a:fld>
            <a:endParaRPr lang="en-US" dirty="0"/>
          </a:p>
        </p:txBody>
      </p:sp>
    </p:spTree>
    <p:extLst>
      <p:ext uri="{BB962C8B-B14F-4D97-AF65-F5344CB8AC3E}">
        <p14:creationId xmlns:p14="http://schemas.microsoft.com/office/powerpoint/2010/main" val="31043453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Segoe UI" panose="020B0502040204020203" pitchFamily="34" charset="0"/>
                <a:cs typeface="Segoe UI" panose="020B0502040204020203" pitchFamily="34" charset="0"/>
              </a:rPr>
              <a:t>You can use this slide as your opening or closing slide.  Should you choose to use it as a closing, make sure you review the main points of your presentation.  One creative way to do that is by adding animations to the various graphics on a slide.  This slide has 4 different graphics, and, when you view the slideshow, you will see that you can click to reveal the next graphic.  Similarly, as you review the main topics in your presentation, you may want each point to show up when you are addressing that topic. </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Add animation to images and graphics: </a:t>
            </a:r>
          </a:p>
          <a:p>
            <a:pPr marL="228600" indent="-228600">
              <a:buAutoNum type="arabicPeriod"/>
            </a:pPr>
            <a:r>
              <a:rPr lang="en-US" dirty="0">
                <a:latin typeface="Segoe UI" panose="020B0502040204020203" pitchFamily="34" charset="0"/>
                <a:cs typeface="Segoe UI" panose="020B0502040204020203" pitchFamily="34" charset="0"/>
              </a:rPr>
              <a:t>Select your image or graphic.</a:t>
            </a:r>
          </a:p>
          <a:p>
            <a:pPr marL="228600" indent="-228600">
              <a:buAutoNum type="arabicPeriod"/>
            </a:pPr>
            <a:r>
              <a:rPr lang="en-US" dirty="0">
                <a:latin typeface="Segoe UI" panose="020B0502040204020203" pitchFamily="34" charset="0"/>
                <a:cs typeface="Segoe UI" panose="020B0502040204020203" pitchFamily="34" charset="0"/>
              </a:rPr>
              <a:t>Click on the Animations tab.</a:t>
            </a:r>
          </a:p>
          <a:p>
            <a:pPr marL="228600" indent="-228600">
              <a:buAutoNum type="arabicPeriod"/>
            </a:pPr>
            <a:r>
              <a:rPr lang="en-US" dirty="0">
                <a:latin typeface="Segoe UI" panose="020B0502040204020203" pitchFamily="34" charset="0"/>
                <a:cs typeface="Segoe UI" panose="020B0502040204020203" pitchFamily="34" charset="0"/>
              </a:rPr>
              <a:t>Choose from the options.  The animation for this slide is “Split”.  The drop-down menu in the Animation section gives even more animations you can use.</a:t>
            </a:r>
          </a:p>
          <a:p>
            <a:pPr marL="228600" indent="-228600">
              <a:buAutoNum type="arabicPeriod"/>
            </a:pPr>
            <a:r>
              <a:rPr lang="en-US" dirty="0">
                <a:latin typeface="Segoe UI" panose="020B0502040204020203" pitchFamily="34" charset="0"/>
                <a:cs typeface="Segoe UI" panose="020B0502040204020203" pitchFamily="34" charset="0"/>
              </a:rPr>
              <a:t>If you have multiple graphics or images, you will see a number appear next to it that notes the order of the animations.</a:t>
            </a:r>
          </a:p>
          <a:p>
            <a:pPr marL="228600" indent="-228600">
              <a:buAutoNum type="arabicPeriod"/>
            </a:pPr>
            <a:endParaRPr lang="en-US" b="1" dirty="0">
              <a:latin typeface="Segoe UI" panose="020B0502040204020203" pitchFamily="34" charset="0"/>
              <a:cs typeface="Segoe UI" panose="020B0502040204020203" pitchFamily="34" charset="0"/>
            </a:endParaRPr>
          </a:p>
          <a:p>
            <a:pPr marL="0" indent="0">
              <a:buNone/>
            </a:pPr>
            <a:r>
              <a:rPr lang="en-US" b="1" dirty="0">
                <a:latin typeface="Segoe UI" panose="020B0502040204020203" pitchFamily="34" charset="0"/>
                <a:cs typeface="Segoe UI" panose="020B0502040204020203" pitchFamily="34" charset="0"/>
              </a:rPr>
              <a:t>Note: You will want to choose the animations carefully.  You do not want to make your audience dizzy from your presentation.</a:t>
            </a:r>
          </a:p>
        </p:txBody>
      </p:sp>
      <p:sp>
        <p:nvSpPr>
          <p:cNvPr id="4" name="Slide Number Placeholder 3"/>
          <p:cNvSpPr>
            <a:spLocks noGrp="1"/>
          </p:cNvSpPr>
          <p:nvPr>
            <p:ph type="sldNum" sz="quarter" idx="10"/>
          </p:nvPr>
        </p:nvSpPr>
        <p:spPr/>
        <p:txBody>
          <a:bodyPr/>
          <a:lstStyle/>
          <a:p>
            <a:fld id="{BC849E9A-41F7-4779-A581-48A7C374A227}" type="slidenum">
              <a:rPr lang="en-US" smtClean="0"/>
              <a:t>18</a:t>
            </a:fld>
            <a:endParaRPr lang="en-US" dirty="0"/>
          </a:p>
        </p:txBody>
      </p:sp>
    </p:spTree>
    <p:extLst>
      <p:ext uri="{BB962C8B-B14F-4D97-AF65-F5344CB8AC3E}">
        <p14:creationId xmlns:p14="http://schemas.microsoft.com/office/powerpoint/2010/main" val="31647768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718B7-7F68-4CC9-8291-332587FA31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81D6BB-0446-49E8-8677-EADF274E952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5AEE24-534A-40F1-99E4-00B7D5FD9124}"/>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5" name="Footer Placeholder 4">
            <a:extLst>
              <a:ext uri="{FF2B5EF4-FFF2-40B4-BE49-F238E27FC236}">
                <a16:creationId xmlns:a16="http://schemas.microsoft.com/office/drawing/2014/main" id="{CD594011-48FF-493D-8286-F62D3455253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880EFCD-7E72-4882-86DC-2F371D7D9516}"/>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1528132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334F3-0709-471B-A734-C4B404F55B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795016-AF78-4708-9C5F-21110C197B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AEA2D1-B124-4454-AFDC-EA60A14BA121}"/>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5" name="Footer Placeholder 4">
            <a:extLst>
              <a:ext uri="{FF2B5EF4-FFF2-40B4-BE49-F238E27FC236}">
                <a16:creationId xmlns:a16="http://schemas.microsoft.com/office/drawing/2014/main" id="{B4F58000-F9D7-4A53-A6C5-E5E8154226B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0D22AAD-0D08-4F47-8D5A-EFE29017E8D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213046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6159-1280-4EE9-96D3-A56BD58266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A27A78-1874-488A-B215-7D763D3381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84BB3D1-3138-4B69-BF5D-4B1A213451CA}"/>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5" name="Footer Placeholder 4">
            <a:extLst>
              <a:ext uri="{FF2B5EF4-FFF2-40B4-BE49-F238E27FC236}">
                <a16:creationId xmlns:a16="http://schemas.microsoft.com/office/drawing/2014/main" id="{0EFF90C5-31F4-4A22-AC00-3FB5ED291B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1F787E-B946-4091-ABC6-F9DB06BBEE3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2729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CAA11-CC97-44E5-AE4D-808FD741A0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3AB6CB-9460-4BCA-86C5-5F26357AB8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FAB0F6-401D-4BAF-A300-65AD684DF9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561BBA-B185-4B45-B152-3D320E15F550}"/>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6" name="Footer Placeholder 5">
            <a:extLst>
              <a:ext uri="{FF2B5EF4-FFF2-40B4-BE49-F238E27FC236}">
                <a16:creationId xmlns:a16="http://schemas.microsoft.com/office/drawing/2014/main" id="{D61CD760-96AC-4821-A56B-0B805F2FAD44}"/>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2F750665-D5B5-4D0B-B2F0-CB6B027CDEC7}"/>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138061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A47C3-C498-415A-A057-E19BCEB5F2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BF6677F-2712-4810-A3AA-56FA75386D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71B54A-6775-4978-8E19-32694C9B5E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DBA1303-B245-476D-BD02-A4E4A359F6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E8E898F-5B79-46F1-89C1-F827997CC4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417A4D-2EC9-4294-BFF4-EAE22EE1099A}"/>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8" name="Footer Placeholder 7">
            <a:extLst>
              <a:ext uri="{FF2B5EF4-FFF2-40B4-BE49-F238E27FC236}">
                <a16:creationId xmlns:a16="http://schemas.microsoft.com/office/drawing/2014/main" id="{6150E317-3602-42A1-BB7F-0184072E8D5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0CE2C97-E26C-4A8B-93A0-B01E2C7F4522}"/>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225869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F68FC-5755-447A-8D7F-9ADED3E994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AB50287-81AA-46CA-8CB3-53A7F8313741}"/>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4" name="Footer Placeholder 3">
            <a:extLst>
              <a:ext uri="{FF2B5EF4-FFF2-40B4-BE49-F238E27FC236}">
                <a16:creationId xmlns:a16="http://schemas.microsoft.com/office/drawing/2014/main" id="{2F1BA4AA-02C9-459E-9362-3DA60E3B5972}"/>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AB2A2C8F-DBB4-4235-A67E-FB4039D9AA24}"/>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4068395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6ACAA5-F8E7-46E9-8BA7-A510948B62CC}"/>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3" name="Footer Placeholder 2">
            <a:extLst>
              <a:ext uri="{FF2B5EF4-FFF2-40B4-BE49-F238E27FC236}">
                <a16:creationId xmlns:a16="http://schemas.microsoft.com/office/drawing/2014/main" id="{D1F2DEE8-5654-4DCA-A8D0-D883E52B6FB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0B179A5-4329-4057-9DEB-5B6E3AD1183F}"/>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621790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1DA80-336B-4DBB-91A1-6E3E4B3C20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840D456-F0A3-4789-A310-A23F01B2EC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B8A8B05-7071-44D4-80F7-3E8191C9A4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D8562E-E6F1-449B-909C-98426BA86B36}"/>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6" name="Footer Placeholder 5">
            <a:extLst>
              <a:ext uri="{FF2B5EF4-FFF2-40B4-BE49-F238E27FC236}">
                <a16:creationId xmlns:a16="http://schemas.microsoft.com/office/drawing/2014/main" id="{7EB47A9A-FB08-407B-A73A-0AC513F0FD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BFF841F-796A-4FE6-B5E0-C8A4986793EE}"/>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08984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D474D-6779-4C23-BD3C-82F5DC3E3E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21096C-E430-49C7-A801-21C0BD95DC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0024828F-334F-4A50-850D-10684F2452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3293F4-2B70-4BB5-A982-219E4133E251}"/>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6" name="Footer Placeholder 5">
            <a:extLst>
              <a:ext uri="{FF2B5EF4-FFF2-40B4-BE49-F238E27FC236}">
                <a16:creationId xmlns:a16="http://schemas.microsoft.com/office/drawing/2014/main" id="{C4F9A86F-B378-4759-B50E-2E0BFAE6246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0A95BDC-FC58-4638-AA59-A3DA9931FD3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790833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A47D73-EDDA-49A6-BA12-1CA980DA9B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89B82E-4CA1-47A5-B133-FBD4D8A8398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8A267F-D142-4D04-9F03-6CB099E6FA32}"/>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5" name="Footer Placeholder 4">
            <a:extLst>
              <a:ext uri="{FF2B5EF4-FFF2-40B4-BE49-F238E27FC236}">
                <a16:creationId xmlns:a16="http://schemas.microsoft.com/office/drawing/2014/main" id="{705127CA-154D-4E90-B776-A2EE71F78D2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5F0BA5-F4EE-4282-B111-76B869BE267D}"/>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3067408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6E92A-52E0-4710-BDEF-0A1534685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A240E1-5EB0-47FD-AA37-BF945D136C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A14243-F1E4-487A-ABEC-30516A01DF2B}"/>
              </a:ext>
            </a:extLst>
          </p:cNvPr>
          <p:cNvSpPr>
            <a:spLocks noGrp="1"/>
          </p:cNvSpPr>
          <p:nvPr>
            <p:ph type="dt" sz="half" idx="10"/>
          </p:nvPr>
        </p:nvSpPr>
        <p:spPr/>
        <p:txBody>
          <a:bodyPr/>
          <a:lstStyle/>
          <a:p>
            <a:fld id="{DECF21A4-E71B-4D3A-AF45-E989C23A7BB1}" type="datetimeFigureOut">
              <a:rPr lang="en-US" smtClean="0"/>
              <a:t>12/30/2023</a:t>
            </a:fld>
            <a:endParaRPr lang="en-US" dirty="0"/>
          </a:p>
        </p:txBody>
      </p:sp>
      <p:sp>
        <p:nvSpPr>
          <p:cNvPr id="5" name="Footer Placeholder 4">
            <a:extLst>
              <a:ext uri="{FF2B5EF4-FFF2-40B4-BE49-F238E27FC236}">
                <a16:creationId xmlns:a16="http://schemas.microsoft.com/office/drawing/2014/main" id="{AC358244-98FD-472D-AB8C-075F71C10BF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998D5A-820D-4519-967F-33320971CBAB}"/>
              </a:ext>
            </a:extLst>
          </p:cNvPr>
          <p:cNvSpPr>
            <a:spLocks noGrp="1"/>
          </p:cNvSpPr>
          <p:nvPr>
            <p:ph type="sldNum" sz="quarter" idx="12"/>
          </p:nvPr>
        </p:nvSpPr>
        <p:spPr/>
        <p:txBody>
          <a:bodyPr/>
          <a:lstStyle/>
          <a:p>
            <a:fld id="{A6AF1B4E-90EC-4A51-B6E5-B702C054ECB0}" type="slidenum">
              <a:rPr lang="en-US" smtClean="0"/>
              <a:t>‹#›</a:t>
            </a:fld>
            <a:endParaRPr lang="en-US" dirty="0"/>
          </a:p>
        </p:txBody>
      </p:sp>
    </p:spTree>
    <p:extLst>
      <p:ext uri="{BB962C8B-B14F-4D97-AF65-F5344CB8AC3E}">
        <p14:creationId xmlns:p14="http://schemas.microsoft.com/office/powerpoint/2010/main" val="14024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80BC3B-525F-4038-9330-0729879F91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629186-93D7-46FA-AE02-36D9426043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BF1CEB-0530-4996-BAEF-2E6A04DAD6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CF21A4-E71B-4D3A-AF45-E989C23A7BB1}" type="datetimeFigureOut">
              <a:rPr lang="en-US" smtClean="0"/>
              <a:t>12/30/2023</a:t>
            </a:fld>
            <a:endParaRPr lang="en-US" dirty="0"/>
          </a:p>
        </p:txBody>
      </p:sp>
      <p:sp>
        <p:nvSpPr>
          <p:cNvPr id="5" name="Footer Placeholder 4">
            <a:extLst>
              <a:ext uri="{FF2B5EF4-FFF2-40B4-BE49-F238E27FC236}">
                <a16:creationId xmlns:a16="http://schemas.microsoft.com/office/drawing/2014/main" id="{C8DCFF3D-7353-4B4D-9E75-FA835E06E74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F382C8D6-8B0B-4982-9EE4-AA823C69C3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AF1B4E-90EC-4A51-B6E5-B702C054ECB0}" type="slidenum">
              <a:rPr lang="en-US" smtClean="0"/>
              <a:t>‹#›</a:t>
            </a:fld>
            <a:endParaRPr lang="en-US" dirty="0"/>
          </a:p>
        </p:txBody>
      </p:sp>
    </p:spTree>
    <p:extLst>
      <p:ext uri="{BB962C8B-B14F-4D97-AF65-F5344CB8AC3E}">
        <p14:creationId xmlns:p14="http://schemas.microsoft.com/office/powerpoint/2010/main" val="40106040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sv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3.sv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6.sv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sv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0.sv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0.sv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0.svg"/></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0.sv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sv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4253EE-4FA2-4843-BE27-C7D5B08FFB81}"/>
              </a:ext>
            </a:extLst>
          </p:cNvPr>
          <p:cNvSpPr>
            <a:spLocks noGrp="1"/>
          </p:cNvSpPr>
          <p:nvPr>
            <p:ph type="subTitle" idx="1"/>
          </p:nvPr>
        </p:nvSpPr>
        <p:spPr>
          <a:xfrm>
            <a:off x="3695562" y="3544542"/>
            <a:ext cx="7389876" cy="862910"/>
          </a:xfrm>
        </p:spPr>
        <p:txBody>
          <a:bodyPr anchor="b">
            <a:noAutofit/>
          </a:bodyPr>
          <a:lstStyle/>
          <a:p>
            <a:pPr algn="l"/>
            <a:r>
              <a:rPr lang="en-US" sz="4400" b="1" dirty="0">
                <a:latin typeface="Dutch801 XBd BT" panose="02020903060505020304" pitchFamily="18" charset="0"/>
              </a:rPr>
              <a:t>Group Messaging Platform</a:t>
            </a:r>
          </a:p>
        </p:txBody>
      </p:sp>
      <p:sp>
        <p:nvSpPr>
          <p:cNvPr id="29" name="Freeform: Shape 28">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Freeform: Shape 30">
            <a:extLst>
              <a:ext uri="{FF2B5EF4-FFF2-40B4-BE49-F238E27FC236}">
                <a16:creationId xmlns:a16="http://schemas.microsoft.com/office/drawing/2014/main" id="{EBA87361-6D30-46E4-834B-719CF59055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88332"/>
            <a:ext cx="3564638" cy="4569668"/>
          </a:xfrm>
          <a:custGeom>
            <a:avLst/>
            <a:gdLst>
              <a:gd name="connsiteX0" fmla="*/ 640080 w 3564638"/>
              <a:gd name="connsiteY0" fmla="*/ 0 h 4569668"/>
              <a:gd name="connsiteX1" fmla="*/ 3564638 w 3564638"/>
              <a:gd name="connsiteY1" fmla="*/ 2924558 h 4569668"/>
              <a:gd name="connsiteX2" fmla="*/ 3065170 w 3564638"/>
              <a:gd name="connsiteY2" fmla="*/ 4559707 h 4569668"/>
              <a:gd name="connsiteX3" fmla="*/ 3057720 w 3564638"/>
              <a:gd name="connsiteY3" fmla="*/ 4569668 h 4569668"/>
              <a:gd name="connsiteX4" fmla="*/ 0 w 3564638"/>
              <a:gd name="connsiteY4" fmla="*/ 4569668 h 4569668"/>
              <a:gd name="connsiteX5" fmla="*/ 0 w 3564638"/>
              <a:gd name="connsiteY5" fmla="*/ 72448 h 4569668"/>
              <a:gd name="connsiteX6" fmla="*/ 50679 w 3564638"/>
              <a:gd name="connsiteY6" fmla="*/ 59417 h 4569668"/>
              <a:gd name="connsiteX7" fmla="*/ 640080 w 3564638"/>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Freeform: Shape 3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Freeform: Shape 34">
            <a:extLst>
              <a:ext uri="{FF2B5EF4-FFF2-40B4-BE49-F238E27FC236}">
                <a16:creationId xmlns:a16="http://schemas.microsoft.com/office/drawing/2014/main" id="{D89DB1C0-FEEC-4CB6-88B2-F9C5562E09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6574" y="0"/>
            <a:ext cx="3913632" cy="2285234"/>
          </a:xfrm>
          <a:custGeom>
            <a:avLst/>
            <a:gdLst>
              <a:gd name="connsiteX0" fmla="*/ 29691 w 3913632"/>
              <a:gd name="connsiteY0" fmla="*/ 0 h 2285234"/>
              <a:gd name="connsiteX1" fmla="*/ 3883942 w 3913632"/>
              <a:gd name="connsiteY1" fmla="*/ 0 h 2285234"/>
              <a:gd name="connsiteX2" fmla="*/ 3903529 w 3913632"/>
              <a:gd name="connsiteY2" fmla="*/ 128345 h 2285234"/>
              <a:gd name="connsiteX3" fmla="*/ 3913632 w 3913632"/>
              <a:gd name="connsiteY3" fmla="*/ 328418 h 2285234"/>
              <a:gd name="connsiteX4" fmla="*/ 1956816 w 3913632"/>
              <a:gd name="connsiteY4" fmla="*/ 2285234 h 2285234"/>
              <a:gd name="connsiteX5" fmla="*/ 0 w 3913632"/>
              <a:gd name="connsiteY5" fmla="*/ 328418 h 2285234"/>
              <a:gd name="connsiteX6" fmla="*/ 10103 w 3913632"/>
              <a:gd name="connsiteY6" fmla="*/ 128345 h 2285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9" name="Graphic 8" descr="Open Book">
            <a:extLst>
              <a:ext uri="{FF2B5EF4-FFF2-40B4-BE49-F238E27FC236}">
                <a16:creationId xmlns:a16="http://schemas.microsoft.com/office/drawing/2014/main" id="{93E427C7-0218-4592-82DA-2431E4BF875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85250" y="164573"/>
            <a:ext cx="1636279" cy="1636279"/>
          </a:xfrm>
          <a:prstGeom prst="rect">
            <a:avLst/>
          </a:prstGeom>
        </p:spPr>
      </p:pic>
      <p:sp>
        <p:nvSpPr>
          <p:cNvPr id="37" name="Oval 36">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3117" y="615908"/>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08163D1C-ED91-4D5F-A33B-CF1256B27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67709" y="780500"/>
            <a:ext cx="2852928" cy="2852928"/>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80302" y="1293093"/>
            <a:ext cx="1827742" cy="1827742"/>
          </a:xfrm>
          <a:prstGeom prst="rect">
            <a:avLst/>
          </a:prstGeom>
        </p:spPr>
      </p:pic>
      <p:pic>
        <p:nvPicPr>
          <p:cNvPr id="7" name="Graphic 6" descr="Blackboard">
            <a:extLst>
              <a:ext uri="{FF2B5EF4-FFF2-40B4-BE49-F238E27FC236}">
                <a16:creationId xmlns:a16="http://schemas.microsoft.com/office/drawing/2014/main" id="{2696A1A4-8E43-47F6-A6DC-A9ADAB053D8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30924" y="3621724"/>
            <a:ext cx="2594886" cy="2594886"/>
          </a:xfrm>
          <a:prstGeom prst="rect">
            <a:avLst/>
          </a:prstGeom>
        </p:spPr>
      </p:pic>
      <p:sp>
        <p:nvSpPr>
          <p:cNvPr id="41" name="Freeform: Shape 40">
            <a:extLst>
              <a:ext uri="{FF2B5EF4-FFF2-40B4-BE49-F238E27FC236}">
                <a16:creationId xmlns:a16="http://schemas.microsoft.com/office/drawing/2014/main" id="{31103AB2-C090-458F-B752-294F23AFA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1"/>
            <a:ext cx="3439432" cy="3785157"/>
          </a:xfrm>
          <a:custGeom>
            <a:avLst/>
            <a:gdLst>
              <a:gd name="connsiteX0" fmla="*/ 198262 w 3439432"/>
              <a:gd name="connsiteY0" fmla="*/ 0 h 3785157"/>
              <a:gd name="connsiteX1" fmla="*/ 3439432 w 3439432"/>
              <a:gd name="connsiteY1" fmla="*/ 0 h 3785157"/>
              <a:gd name="connsiteX2" fmla="*/ 3439432 w 3439432"/>
              <a:gd name="connsiteY2" fmla="*/ 3697836 h 3785157"/>
              <a:gd name="connsiteX3" fmla="*/ 3318024 w 3439432"/>
              <a:gd name="connsiteY3" fmla="*/ 3729054 h 3785157"/>
              <a:gd name="connsiteX4" fmla="*/ 2761488 w 3439432"/>
              <a:gd name="connsiteY4" fmla="*/ 3785157 h 3785157"/>
              <a:gd name="connsiteX5" fmla="*/ 0 w 3439432"/>
              <a:gd name="connsiteY5" fmla="*/ 1023669 h 3785157"/>
              <a:gd name="connsiteX6" fmla="*/ 124151 w 3439432"/>
              <a:gd name="connsiteY6" fmla="*/ 202487 h 3785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785157">
                <a:moveTo>
                  <a:pt x="198262" y="0"/>
                </a:moveTo>
                <a:lnTo>
                  <a:pt x="3439432" y="0"/>
                </a:lnTo>
                <a:lnTo>
                  <a:pt x="3439432" y="3697836"/>
                </a:lnTo>
                <a:lnTo>
                  <a:pt x="3318024" y="3729054"/>
                </a:lnTo>
                <a:cubicBezTo>
                  <a:pt x="3138258" y="3765839"/>
                  <a:pt x="2952129" y="3785157"/>
                  <a:pt x="2761488" y="3785157"/>
                </a:cubicBezTo>
                <a:cubicBezTo>
                  <a:pt x="1236360" y="3785157"/>
                  <a:pt x="0" y="2548797"/>
                  <a:pt x="0" y="1023669"/>
                </a:cubicBezTo>
                <a:cubicBezTo>
                  <a:pt x="0" y="737708"/>
                  <a:pt x="43466" y="461898"/>
                  <a:pt x="124151" y="20248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Shape 42">
            <a:extLst>
              <a:ext uri="{FF2B5EF4-FFF2-40B4-BE49-F238E27FC236}">
                <a16:creationId xmlns:a16="http://schemas.microsoft.com/office/drawing/2014/main" id="{83D471F3-782A-4BA1-9CAB-FF5CDF0A7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18761" y="-4332"/>
            <a:ext cx="3273238" cy="3618965"/>
          </a:xfrm>
          <a:custGeom>
            <a:avLst/>
            <a:gdLst>
              <a:gd name="connsiteX0" fmla="*/ 210437 w 3273238"/>
              <a:gd name="connsiteY0" fmla="*/ 0 h 3618965"/>
              <a:gd name="connsiteX1" fmla="*/ 3273238 w 3273238"/>
              <a:gd name="connsiteY1" fmla="*/ 0 h 3618965"/>
              <a:gd name="connsiteX2" fmla="*/ 3273238 w 3273238"/>
              <a:gd name="connsiteY2" fmla="*/ 3526409 h 3618965"/>
              <a:gd name="connsiteX3" fmla="*/ 3118338 w 3273238"/>
              <a:gd name="connsiteY3" fmla="*/ 3566238 h 3618965"/>
              <a:gd name="connsiteX4" fmla="*/ 2595295 w 3273238"/>
              <a:gd name="connsiteY4" fmla="*/ 3618965 h 3618965"/>
              <a:gd name="connsiteX5" fmla="*/ 0 w 3273238"/>
              <a:gd name="connsiteY5" fmla="*/ 1023670 h 3618965"/>
              <a:gd name="connsiteX6" fmla="*/ 203951 w 3273238"/>
              <a:gd name="connsiteY6" fmla="*/ 13464 h 3618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73238" h="3618965">
                <a:moveTo>
                  <a:pt x="210437" y="0"/>
                </a:moveTo>
                <a:lnTo>
                  <a:pt x="3273238" y="0"/>
                </a:lnTo>
                <a:lnTo>
                  <a:pt x="3273238" y="3526409"/>
                </a:lnTo>
                <a:lnTo>
                  <a:pt x="3118338" y="3566238"/>
                </a:lnTo>
                <a:cubicBezTo>
                  <a:pt x="2949390" y="3600810"/>
                  <a:pt x="2774463" y="3618965"/>
                  <a:pt x="2595295" y="3618965"/>
                </a:cubicBezTo>
                <a:cubicBezTo>
                  <a:pt x="1161953" y="3618965"/>
                  <a:pt x="0" y="2457012"/>
                  <a:pt x="0" y="1023670"/>
                </a:cubicBezTo>
                <a:cubicBezTo>
                  <a:pt x="0" y="665335"/>
                  <a:pt x="72622" y="323961"/>
                  <a:pt x="203951" y="13464"/>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Graphic 10" descr="Books on Shelf">
            <a:extLst>
              <a:ext uri="{FF2B5EF4-FFF2-40B4-BE49-F238E27FC236}">
                <a16:creationId xmlns:a16="http://schemas.microsoft.com/office/drawing/2014/main" id="{18A239E6-97C0-4A74-8E7A-C9FD39A8C92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725024" y="327889"/>
            <a:ext cx="2260711" cy="2260711"/>
          </a:xfrm>
          <a:prstGeom prst="rect">
            <a:avLst/>
          </a:prstGeom>
        </p:spPr>
      </p:pic>
      <p:sp>
        <p:nvSpPr>
          <p:cNvPr id="8" name="TextBox 7">
            <a:extLst>
              <a:ext uri="{FF2B5EF4-FFF2-40B4-BE49-F238E27FC236}">
                <a16:creationId xmlns:a16="http://schemas.microsoft.com/office/drawing/2014/main" id="{A999A0AA-D7A9-4636-98D7-C625B4CA7A73}"/>
              </a:ext>
            </a:extLst>
          </p:cNvPr>
          <p:cNvSpPr txBox="1"/>
          <p:nvPr/>
        </p:nvSpPr>
        <p:spPr>
          <a:xfrm>
            <a:off x="7931164" y="5893444"/>
            <a:ext cx="4054571" cy="646331"/>
          </a:xfrm>
          <a:prstGeom prst="rect">
            <a:avLst/>
          </a:prstGeom>
          <a:noFill/>
        </p:spPr>
        <p:txBody>
          <a:bodyPr wrap="none" rtlCol="0">
            <a:spAutoFit/>
          </a:bodyPr>
          <a:lstStyle/>
          <a:p>
            <a:r>
              <a:rPr lang="en-US" dirty="0"/>
              <a:t>Md. Roman Nihal 211902003</a:t>
            </a:r>
          </a:p>
          <a:p>
            <a:r>
              <a:rPr lang="en-US" dirty="0"/>
              <a:t>Md. </a:t>
            </a:r>
            <a:r>
              <a:rPr lang="en-US" dirty="0" err="1"/>
              <a:t>Shadikur</a:t>
            </a:r>
            <a:r>
              <a:rPr lang="en-US" dirty="0"/>
              <a:t> Rahman </a:t>
            </a:r>
            <a:r>
              <a:rPr lang="en-US" dirty="0" err="1"/>
              <a:t>Sheam</a:t>
            </a:r>
            <a:r>
              <a:rPr lang="en-US" dirty="0"/>
              <a:t> 211902020</a:t>
            </a:r>
          </a:p>
        </p:txBody>
      </p:sp>
    </p:spTree>
    <p:extLst>
      <p:ext uri="{BB962C8B-B14F-4D97-AF65-F5344CB8AC3E}">
        <p14:creationId xmlns:p14="http://schemas.microsoft.com/office/powerpoint/2010/main" val="32239897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c 10" descr="Open Book">
            <a:extLst>
              <a:ext uri="{FF2B5EF4-FFF2-40B4-BE49-F238E27FC236}">
                <a16:creationId xmlns:a16="http://schemas.microsoft.com/office/drawing/2014/main" id="{74F96F41-7225-4663-82FF-F91A5C5D81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41960"/>
            <a:ext cx="1097280" cy="1097280"/>
          </a:xfrm>
          <a:prstGeom prst="rect">
            <a:avLst/>
          </a:prstGeom>
        </p:spPr>
      </p:pic>
      <p:sp>
        <p:nvSpPr>
          <p:cNvPr id="12" name="Title 9">
            <a:extLst>
              <a:ext uri="{FF2B5EF4-FFF2-40B4-BE49-F238E27FC236}">
                <a16:creationId xmlns:a16="http://schemas.microsoft.com/office/drawing/2014/main" id="{A5F5D50F-E9A8-4B4F-9306-13E317EC9FE6}"/>
              </a:ext>
            </a:extLst>
          </p:cNvPr>
          <p:cNvSpPr txBox="1">
            <a:spLocks/>
          </p:cNvSpPr>
          <p:nvPr/>
        </p:nvSpPr>
        <p:spPr>
          <a:xfrm>
            <a:off x="2074333" y="551958"/>
            <a:ext cx="2667000" cy="8371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Contents</a:t>
            </a:r>
          </a:p>
        </p:txBody>
      </p:sp>
      <p:sp>
        <p:nvSpPr>
          <p:cNvPr id="13" name="TextBox 12">
            <a:extLst>
              <a:ext uri="{FF2B5EF4-FFF2-40B4-BE49-F238E27FC236}">
                <a16:creationId xmlns:a16="http://schemas.microsoft.com/office/drawing/2014/main" id="{F2088A22-0DCB-4E0F-B0F9-1DF439880D59}"/>
              </a:ext>
            </a:extLst>
          </p:cNvPr>
          <p:cNvSpPr txBox="1"/>
          <p:nvPr/>
        </p:nvSpPr>
        <p:spPr>
          <a:xfrm>
            <a:off x="1083733" y="2387600"/>
            <a:ext cx="2686954" cy="3693319"/>
          </a:xfrm>
          <a:prstGeom prst="rect">
            <a:avLst/>
          </a:prstGeom>
          <a:noFill/>
        </p:spPr>
        <p:txBody>
          <a:bodyPr wrap="none" rtlCol="0">
            <a:spAutoFit/>
          </a:bodyPr>
          <a:lstStyle/>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Introduction</a:t>
            </a: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Objectives</a:t>
            </a:r>
          </a:p>
          <a:p>
            <a:pPr marL="285750" indent="-285750">
              <a:buFont typeface="Arial" panose="020B0604020202020204" pitchFamily="34" charset="0"/>
              <a:buChar char="•"/>
            </a:pPr>
            <a:endParaRPr lang="en-US" b="1" dirty="0">
              <a:solidFill>
                <a:srgbClr val="000000"/>
              </a:solidFill>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GUI</a:t>
            </a: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System Architecture</a:t>
            </a:r>
          </a:p>
          <a:p>
            <a:pPr marL="285750" indent="-285750">
              <a:buFont typeface="Arial" panose="020B0604020202020204" pitchFamily="34" charset="0"/>
              <a:buChar char="•"/>
            </a:pPr>
            <a:endParaRPr lang="en-US" b="1" dirty="0">
              <a:solidFill>
                <a:srgbClr val="000000"/>
              </a:solidFill>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Result</a:t>
            </a: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Future Scope</a:t>
            </a: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p:txBody>
      </p:sp>
      <p:pic>
        <p:nvPicPr>
          <p:cNvPr id="14" name="Picture 13">
            <a:extLst>
              <a:ext uri="{FF2B5EF4-FFF2-40B4-BE49-F238E27FC236}">
                <a16:creationId xmlns:a16="http://schemas.microsoft.com/office/drawing/2014/main" id="{62367E35-3840-410D-8D8C-1364D750465E}"/>
              </a:ext>
            </a:extLst>
          </p:cNvPr>
          <p:cNvPicPr>
            <a:picLocks noChangeAspect="1"/>
          </p:cNvPicPr>
          <p:nvPr/>
        </p:nvPicPr>
        <p:blipFill rotWithShape="1">
          <a:blip r:embed="rId5"/>
          <a:srcRect t="2447"/>
          <a:stretch/>
        </p:blipFill>
        <p:spPr>
          <a:xfrm>
            <a:off x="6561667" y="1697240"/>
            <a:ext cx="5305092" cy="4445363"/>
          </a:xfrm>
          <a:prstGeom prst="rect">
            <a:avLst/>
          </a:prstGeom>
        </p:spPr>
      </p:pic>
    </p:spTree>
    <p:extLst>
      <p:ext uri="{BB962C8B-B14F-4D97-AF65-F5344CB8AC3E}">
        <p14:creationId xmlns:p14="http://schemas.microsoft.com/office/powerpoint/2010/main" val="1534910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9">
            <a:extLst>
              <a:ext uri="{FF2B5EF4-FFF2-40B4-BE49-F238E27FC236}">
                <a16:creationId xmlns:a16="http://schemas.microsoft.com/office/drawing/2014/main" id="{AA415B8A-3B2B-46FE-AAF2-9E61815C077D}"/>
              </a:ext>
            </a:extLst>
          </p:cNvPr>
          <p:cNvSpPr txBox="1">
            <a:spLocks/>
          </p:cNvSpPr>
          <p:nvPr/>
        </p:nvSpPr>
        <p:spPr>
          <a:xfrm>
            <a:off x="2074333" y="551958"/>
            <a:ext cx="2667000" cy="83714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Introduction</a:t>
            </a:r>
          </a:p>
        </p:txBody>
      </p:sp>
      <p:pic>
        <p:nvPicPr>
          <p:cNvPr id="7" name="Graphic 6" descr="Books on Shelf">
            <a:extLst>
              <a:ext uri="{FF2B5EF4-FFF2-40B4-BE49-F238E27FC236}">
                <a16:creationId xmlns:a16="http://schemas.microsoft.com/office/drawing/2014/main" id="{1966292F-8EC4-4F46-80E5-FB2B9039F6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21889"/>
            <a:ext cx="1097280" cy="1097280"/>
          </a:xfrm>
          <a:prstGeom prst="rect">
            <a:avLst/>
          </a:prstGeom>
        </p:spPr>
      </p:pic>
      <p:sp>
        <p:nvSpPr>
          <p:cNvPr id="9" name="TextBox 8">
            <a:extLst>
              <a:ext uri="{FF2B5EF4-FFF2-40B4-BE49-F238E27FC236}">
                <a16:creationId xmlns:a16="http://schemas.microsoft.com/office/drawing/2014/main" id="{52D6219C-24E0-4FFD-8FEE-B959D3CD6AB9}"/>
              </a:ext>
            </a:extLst>
          </p:cNvPr>
          <p:cNvSpPr txBox="1"/>
          <p:nvPr/>
        </p:nvSpPr>
        <p:spPr>
          <a:xfrm>
            <a:off x="1083734" y="2387600"/>
            <a:ext cx="5452534" cy="923330"/>
          </a:xfrm>
          <a:prstGeom prst="rect">
            <a:avLst/>
          </a:prstGeom>
          <a:noFill/>
        </p:spPr>
        <p:txBody>
          <a:bodyPr wrap="square" rtlCol="0">
            <a:spAutoFit/>
          </a:bodyPr>
          <a:lstStyle/>
          <a:p>
            <a:pPr algn="just"/>
            <a:r>
              <a:rPr lang="en-US" sz="1800" b="1" dirty="0">
                <a:solidFill>
                  <a:srgbClr val="000000"/>
                </a:solidFill>
                <a:effectLst/>
                <a:latin typeface="Artifakt Element Book" panose="020B0503050000020004" pitchFamily="34" charset="0"/>
                <a:ea typeface="Artifakt Element Book" panose="020B0503050000020004" pitchFamily="34" charset="0"/>
              </a:rPr>
              <a:t>Our project "Group Messaging Platform" tailored for real-time communication among numerous users within a specified group</a:t>
            </a:r>
            <a:endParaRPr lang="en-US" b="1" dirty="0">
              <a:latin typeface="Artifakt Element Book" panose="020B0503050000020004" pitchFamily="34" charset="0"/>
              <a:ea typeface="Artifakt Element Book" panose="020B0503050000020004" pitchFamily="34" charset="0"/>
            </a:endParaRPr>
          </a:p>
        </p:txBody>
      </p:sp>
      <p:sp>
        <p:nvSpPr>
          <p:cNvPr id="11" name="TextBox 10">
            <a:extLst>
              <a:ext uri="{FF2B5EF4-FFF2-40B4-BE49-F238E27FC236}">
                <a16:creationId xmlns:a16="http://schemas.microsoft.com/office/drawing/2014/main" id="{7798A814-D48E-41A1-BA15-8E23529B2824}"/>
              </a:ext>
            </a:extLst>
          </p:cNvPr>
          <p:cNvSpPr txBox="1"/>
          <p:nvPr/>
        </p:nvSpPr>
        <p:spPr>
          <a:xfrm>
            <a:off x="1083733" y="3538604"/>
            <a:ext cx="1194558" cy="2031325"/>
          </a:xfrm>
          <a:prstGeom prst="rect">
            <a:avLst/>
          </a:prstGeom>
          <a:noFill/>
        </p:spPr>
        <p:txBody>
          <a:bodyPr wrap="none" rtlCol="0">
            <a:spAutoFit/>
          </a:bodyPr>
          <a:lstStyle/>
          <a:p>
            <a:r>
              <a:rPr lang="en-US" sz="1800" b="1" dirty="0">
                <a:solidFill>
                  <a:srgbClr val="000000"/>
                </a:solidFill>
                <a:effectLst/>
                <a:latin typeface="Artifakt Element Book" panose="020B0503050000020004" pitchFamily="34" charset="0"/>
                <a:ea typeface="Artifakt Element Book" panose="020B0503050000020004" pitchFamily="34" charset="0"/>
              </a:rPr>
              <a:t>Features:</a:t>
            </a:r>
          </a:p>
          <a:p>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Text</a:t>
            </a:r>
          </a:p>
          <a:p>
            <a:pPr marL="285750" indent="-285750">
              <a:buFont typeface="Arial" panose="020B0604020202020204" pitchFamily="34" charset="0"/>
              <a:buChar char="•"/>
            </a:pPr>
            <a:endParaRPr lang="en-US" b="1" dirty="0">
              <a:solidFill>
                <a:srgbClr val="000000"/>
              </a:solidFill>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Emoji</a:t>
            </a: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Image</a:t>
            </a:r>
            <a:endParaRPr lang="en-US" dirty="0">
              <a:latin typeface="Artifakt Element Book" panose="020B0503050000020004" pitchFamily="34" charset="0"/>
              <a:ea typeface="Artifakt Element Book" panose="020B0503050000020004" pitchFamily="34" charset="0"/>
            </a:endParaRPr>
          </a:p>
        </p:txBody>
      </p:sp>
      <p:pic>
        <p:nvPicPr>
          <p:cNvPr id="14" name="Picture 13">
            <a:extLst>
              <a:ext uri="{FF2B5EF4-FFF2-40B4-BE49-F238E27FC236}">
                <a16:creationId xmlns:a16="http://schemas.microsoft.com/office/drawing/2014/main" id="{83E0AFD1-A38C-4FF1-B6C5-59AA533596F6}"/>
              </a:ext>
            </a:extLst>
          </p:cNvPr>
          <p:cNvPicPr>
            <a:picLocks noChangeAspect="1"/>
          </p:cNvPicPr>
          <p:nvPr/>
        </p:nvPicPr>
        <p:blipFill rotWithShape="1">
          <a:blip r:embed="rId5"/>
          <a:srcRect t="8701" r="8903"/>
          <a:stretch/>
        </p:blipFill>
        <p:spPr>
          <a:xfrm>
            <a:off x="7056057" y="1552939"/>
            <a:ext cx="4086077" cy="4356794"/>
          </a:xfrm>
          <a:prstGeom prst="rect">
            <a:avLst/>
          </a:prstGeom>
        </p:spPr>
      </p:pic>
    </p:spTree>
    <p:extLst>
      <p:ext uri="{BB962C8B-B14F-4D97-AF65-F5344CB8AC3E}">
        <p14:creationId xmlns:p14="http://schemas.microsoft.com/office/powerpoint/2010/main" val="3646148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Open Book">
            <a:extLst>
              <a:ext uri="{FF2B5EF4-FFF2-40B4-BE49-F238E27FC236}">
                <a16:creationId xmlns:a16="http://schemas.microsoft.com/office/drawing/2014/main" id="{DEFE964D-9F1C-4F69-ADD3-0E1AB324E19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41960"/>
            <a:ext cx="1097280" cy="1097280"/>
          </a:xfrm>
          <a:prstGeom prst="rect">
            <a:avLst/>
          </a:prstGeom>
        </p:spPr>
      </p:pic>
      <p:sp>
        <p:nvSpPr>
          <p:cNvPr id="6" name="Title 9">
            <a:extLst>
              <a:ext uri="{FF2B5EF4-FFF2-40B4-BE49-F238E27FC236}">
                <a16:creationId xmlns:a16="http://schemas.microsoft.com/office/drawing/2014/main" id="{AA415B8A-3B2B-46FE-AAF2-9E61815C077D}"/>
              </a:ext>
            </a:extLst>
          </p:cNvPr>
          <p:cNvSpPr txBox="1">
            <a:spLocks/>
          </p:cNvSpPr>
          <p:nvPr/>
        </p:nvSpPr>
        <p:spPr>
          <a:xfrm>
            <a:off x="2074333" y="551958"/>
            <a:ext cx="2667000" cy="837142"/>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latin typeface="Dutch801 XBd BT" panose="02020903060505020304" pitchFamily="18" charset="0"/>
              </a:rPr>
              <a:t>Objectives</a:t>
            </a:r>
            <a:endParaRPr lang="en-US" b="1" dirty="0">
              <a:latin typeface="Dutch801 XBd BT" panose="02020903060505020304" pitchFamily="18" charset="0"/>
            </a:endParaRPr>
          </a:p>
        </p:txBody>
      </p:sp>
      <p:sp>
        <p:nvSpPr>
          <p:cNvPr id="11" name="TextBox 10">
            <a:extLst>
              <a:ext uri="{FF2B5EF4-FFF2-40B4-BE49-F238E27FC236}">
                <a16:creationId xmlns:a16="http://schemas.microsoft.com/office/drawing/2014/main" id="{90D6CC8F-B0E9-4744-9097-F4DEE3184858}"/>
              </a:ext>
            </a:extLst>
          </p:cNvPr>
          <p:cNvSpPr txBox="1"/>
          <p:nvPr/>
        </p:nvSpPr>
        <p:spPr>
          <a:xfrm>
            <a:off x="1083733" y="2387600"/>
            <a:ext cx="4631974" cy="2031325"/>
          </a:xfrm>
          <a:prstGeom prst="rect">
            <a:avLst/>
          </a:prstGeom>
          <a:noFill/>
        </p:spPr>
        <p:txBody>
          <a:bodyPr wrap="none" rtlCol="0">
            <a:spAutoFit/>
          </a:bodyPr>
          <a:lstStyle/>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Real-Time Multimedia Communication</a:t>
            </a: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Scalable and Modular Architecture</a:t>
            </a:r>
          </a:p>
          <a:p>
            <a:pPr marL="285750" indent="-285750">
              <a:buFont typeface="Arial" panose="020B0604020202020204" pitchFamily="34" charset="0"/>
              <a:buChar char="•"/>
            </a:pPr>
            <a:endParaRPr lang="en-US" b="1" dirty="0">
              <a:solidFill>
                <a:srgbClr val="000000"/>
              </a:solidFill>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User-Friendly Multimedia Interface</a:t>
            </a: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Message Persistence for Multimedia</a:t>
            </a:r>
            <a:endParaRPr lang="en-US" dirty="0">
              <a:latin typeface="Artifakt Element Book" panose="020B0503050000020004" pitchFamily="34" charset="0"/>
              <a:ea typeface="Artifakt Element Book" panose="020B0503050000020004" pitchFamily="34" charset="0"/>
            </a:endParaRPr>
          </a:p>
        </p:txBody>
      </p:sp>
      <p:pic>
        <p:nvPicPr>
          <p:cNvPr id="7" name="Picture 6">
            <a:extLst>
              <a:ext uri="{FF2B5EF4-FFF2-40B4-BE49-F238E27FC236}">
                <a16:creationId xmlns:a16="http://schemas.microsoft.com/office/drawing/2014/main" id="{D066B6E3-2F3B-4FB8-956F-6DAA12205F5D}"/>
              </a:ext>
            </a:extLst>
          </p:cNvPr>
          <p:cNvPicPr>
            <a:picLocks noChangeAspect="1"/>
          </p:cNvPicPr>
          <p:nvPr/>
        </p:nvPicPr>
        <p:blipFill rotWithShape="1">
          <a:blip r:embed="rId5"/>
          <a:srcRect t="2447"/>
          <a:stretch/>
        </p:blipFill>
        <p:spPr>
          <a:xfrm>
            <a:off x="6561667" y="1697240"/>
            <a:ext cx="5305092" cy="4445363"/>
          </a:xfrm>
          <a:prstGeom prst="rect">
            <a:avLst/>
          </a:prstGeom>
        </p:spPr>
      </p:pic>
    </p:spTree>
    <p:extLst>
      <p:ext uri="{BB962C8B-B14F-4D97-AF65-F5344CB8AC3E}">
        <p14:creationId xmlns:p14="http://schemas.microsoft.com/office/powerpoint/2010/main" val="381659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9">
            <a:extLst>
              <a:ext uri="{FF2B5EF4-FFF2-40B4-BE49-F238E27FC236}">
                <a16:creationId xmlns:a16="http://schemas.microsoft.com/office/drawing/2014/main" id="{AA415B8A-3B2B-46FE-AAF2-9E61815C077D}"/>
              </a:ext>
            </a:extLst>
          </p:cNvPr>
          <p:cNvSpPr txBox="1">
            <a:spLocks/>
          </p:cNvSpPr>
          <p:nvPr/>
        </p:nvSpPr>
        <p:spPr>
          <a:xfrm>
            <a:off x="2074333" y="551958"/>
            <a:ext cx="2667000" cy="8371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GUI</a:t>
            </a:r>
          </a:p>
        </p:txBody>
      </p:sp>
      <p:pic>
        <p:nvPicPr>
          <p:cNvPr id="7" name="Graphic 6" descr="Books on Shelf">
            <a:extLst>
              <a:ext uri="{FF2B5EF4-FFF2-40B4-BE49-F238E27FC236}">
                <a16:creationId xmlns:a16="http://schemas.microsoft.com/office/drawing/2014/main" id="{1966292F-8EC4-4F46-80E5-FB2B9039F61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21889"/>
            <a:ext cx="1097280" cy="1097280"/>
          </a:xfrm>
          <a:prstGeom prst="rect">
            <a:avLst/>
          </a:prstGeom>
        </p:spPr>
      </p:pic>
      <p:pic>
        <p:nvPicPr>
          <p:cNvPr id="3" name="Picture 2">
            <a:extLst>
              <a:ext uri="{FF2B5EF4-FFF2-40B4-BE49-F238E27FC236}">
                <a16:creationId xmlns:a16="http://schemas.microsoft.com/office/drawing/2014/main" id="{4B1D36F1-BE97-4A15-BF44-B5FCD56DCE17}"/>
              </a:ext>
            </a:extLst>
          </p:cNvPr>
          <p:cNvPicPr>
            <a:picLocks noChangeAspect="1"/>
          </p:cNvPicPr>
          <p:nvPr/>
        </p:nvPicPr>
        <p:blipFill>
          <a:blip r:embed="rId5"/>
          <a:stretch>
            <a:fillRect/>
          </a:stretch>
        </p:blipFill>
        <p:spPr>
          <a:xfrm>
            <a:off x="1365610" y="2201333"/>
            <a:ext cx="4084445" cy="3055191"/>
          </a:xfrm>
          <a:prstGeom prst="rect">
            <a:avLst/>
          </a:prstGeom>
        </p:spPr>
      </p:pic>
      <p:pic>
        <p:nvPicPr>
          <p:cNvPr id="10" name="Picture 9">
            <a:extLst>
              <a:ext uri="{FF2B5EF4-FFF2-40B4-BE49-F238E27FC236}">
                <a16:creationId xmlns:a16="http://schemas.microsoft.com/office/drawing/2014/main" id="{F21CA3E3-EFAB-42B9-A865-7DC2D749E667}"/>
              </a:ext>
            </a:extLst>
          </p:cNvPr>
          <p:cNvPicPr>
            <a:picLocks noChangeAspect="1"/>
          </p:cNvPicPr>
          <p:nvPr/>
        </p:nvPicPr>
        <p:blipFill>
          <a:blip r:embed="rId6"/>
          <a:stretch>
            <a:fillRect/>
          </a:stretch>
        </p:blipFill>
        <p:spPr>
          <a:xfrm>
            <a:off x="6164338" y="2201333"/>
            <a:ext cx="5019242" cy="3055191"/>
          </a:xfrm>
          <a:prstGeom prst="rect">
            <a:avLst/>
          </a:prstGeom>
        </p:spPr>
      </p:pic>
      <p:sp>
        <p:nvSpPr>
          <p:cNvPr id="12" name="TextBox 11">
            <a:extLst>
              <a:ext uri="{FF2B5EF4-FFF2-40B4-BE49-F238E27FC236}">
                <a16:creationId xmlns:a16="http://schemas.microsoft.com/office/drawing/2014/main" id="{0813B897-7375-4312-B303-60F7F62354E7}"/>
              </a:ext>
            </a:extLst>
          </p:cNvPr>
          <p:cNvSpPr txBox="1"/>
          <p:nvPr/>
        </p:nvSpPr>
        <p:spPr>
          <a:xfrm>
            <a:off x="3012014" y="5379888"/>
            <a:ext cx="791635" cy="369332"/>
          </a:xfrm>
          <a:prstGeom prst="rect">
            <a:avLst/>
          </a:prstGeom>
          <a:noFill/>
        </p:spPr>
        <p:txBody>
          <a:bodyPr wrap="square" rtlCol="0">
            <a:spAutoFit/>
          </a:bodyPr>
          <a:lstStyle/>
          <a:p>
            <a:r>
              <a:rPr lang="en-US" dirty="0"/>
              <a:t>Server</a:t>
            </a:r>
          </a:p>
        </p:txBody>
      </p:sp>
      <p:sp>
        <p:nvSpPr>
          <p:cNvPr id="13" name="TextBox 12">
            <a:extLst>
              <a:ext uri="{FF2B5EF4-FFF2-40B4-BE49-F238E27FC236}">
                <a16:creationId xmlns:a16="http://schemas.microsoft.com/office/drawing/2014/main" id="{5A75C469-36A4-4955-8DC9-349A4AF51EC2}"/>
              </a:ext>
            </a:extLst>
          </p:cNvPr>
          <p:cNvSpPr txBox="1"/>
          <p:nvPr/>
        </p:nvSpPr>
        <p:spPr>
          <a:xfrm>
            <a:off x="8314125" y="5379888"/>
            <a:ext cx="719667" cy="369332"/>
          </a:xfrm>
          <a:prstGeom prst="rect">
            <a:avLst/>
          </a:prstGeom>
          <a:noFill/>
        </p:spPr>
        <p:txBody>
          <a:bodyPr wrap="square" rtlCol="0">
            <a:spAutoFit/>
          </a:bodyPr>
          <a:lstStyle/>
          <a:p>
            <a:r>
              <a:rPr lang="en-US" dirty="0"/>
              <a:t>Users</a:t>
            </a:r>
          </a:p>
        </p:txBody>
      </p:sp>
    </p:spTree>
    <p:extLst>
      <p:ext uri="{BB962C8B-B14F-4D97-AF65-F5344CB8AC3E}">
        <p14:creationId xmlns:p14="http://schemas.microsoft.com/office/powerpoint/2010/main" val="2599218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Flowchart: Process 31">
            <a:extLst>
              <a:ext uri="{FF2B5EF4-FFF2-40B4-BE49-F238E27FC236}">
                <a16:creationId xmlns:a16="http://schemas.microsoft.com/office/drawing/2014/main" id="{6E50D107-E5DE-438F-8AA4-2426B14C2280}"/>
              </a:ext>
            </a:extLst>
          </p:cNvPr>
          <p:cNvSpPr/>
          <p:nvPr/>
        </p:nvSpPr>
        <p:spPr>
          <a:xfrm>
            <a:off x="838200" y="2083065"/>
            <a:ext cx="2633132" cy="262440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pic>
        <p:nvPicPr>
          <p:cNvPr id="4" name="Graphic 3" descr="Blackboard">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21889"/>
            <a:ext cx="1097280" cy="1097280"/>
          </a:xfrm>
          <a:prstGeom prst="rect">
            <a:avLst/>
          </a:prstGeom>
        </p:spPr>
      </p:pic>
      <p:pic>
        <p:nvPicPr>
          <p:cNvPr id="8" name="Graphic 7">
            <a:extLst>
              <a:ext uri="{FF2B5EF4-FFF2-40B4-BE49-F238E27FC236}">
                <a16:creationId xmlns:a16="http://schemas.microsoft.com/office/drawing/2014/main" id="{B6C7BDF7-D7AC-4209-A6A9-11B953F882E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15000"/>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41431" y="816337"/>
            <a:ext cx="5225327" cy="5225327"/>
          </a:xfrm>
          <a:prstGeom prst="rect">
            <a:avLst/>
          </a:prstGeom>
        </p:spPr>
      </p:pic>
      <p:sp>
        <p:nvSpPr>
          <p:cNvPr id="9" name="Title 9">
            <a:extLst>
              <a:ext uri="{FF2B5EF4-FFF2-40B4-BE49-F238E27FC236}">
                <a16:creationId xmlns:a16="http://schemas.microsoft.com/office/drawing/2014/main" id="{7BA464D9-0851-4ECF-917C-C6BAC8785181}"/>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System Architecture</a:t>
            </a:r>
          </a:p>
        </p:txBody>
      </p:sp>
      <p:sp>
        <p:nvSpPr>
          <p:cNvPr id="30" name="Text Box 13">
            <a:extLst>
              <a:ext uri="{FF2B5EF4-FFF2-40B4-BE49-F238E27FC236}">
                <a16:creationId xmlns:a16="http://schemas.microsoft.com/office/drawing/2014/main" id="{213884B7-A4EA-49A4-8FF8-50EF5C789ACA}"/>
              </a:ext>
            </a:extLst>
          </p:cNvPr>
          <p:cNvSpPr txBox="1"/>
          <p:nvPr/>
        </p:nvSpPr>
        <p:spPr>
          <a:xfrm>
            <a:off x="1207028" y="2420830"/>
            <a:ext cx="1895475" cy="9429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SocketServer’s</a:t>
            </a:r>
            <a:r>
              <a:rPr lang="en-US" sz="1200" b="1" dirty="0">
                <a:solidFill>
                  <a:srgbClr val="000000"/>
                </a:solidFill>
                <a:effectLst/>
                <a:latin typeface="Calibri" panose="020F0502020204030204" pitchFamily="34" charset="0"/>
                <a:ea typeface="Calibri" panose="020F0502020204030204" pitchFamily="34" charset="0"/>
              </a:rPr>
              <a:t> port : 5000</a:t>
            </a: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ss.accept</a:t>
            </a:r>
            <a:r>
              <a:rPr lang="en-US" sz="1200" b="1" dirty="0">
                <a:solidFill>
                  <a:srgbClr val="000000"/>
                </a:solidFill>
                <a:effectLst/>
                <a:latin typeface="Calibri" panose="020F0502020204030204" pitchFamily="34" charset="0"/>
                <a:ea typeface="Calibri" panose="020F0502020204030204" pitchFamily="34" charset="0"/>
              </a:rPr>
              <a:t>()</a:t>
            </a:r>
            <a:endParaRPr lang="en-US" sz="1100" dirty="0">
              <a:solidFill>
                <a:srgbClr val="000000"/>
              </a:solidFill>
              <a:effectLst/>
              <a:latin typeface="Calibri" panose="020F0502020204030204" pitchFamily="34" charset="0"/>
              <a:ea typeface="Calibri" panose="020F0502020204030204" pitchFamily="34" charset="0"/>
            </a:endParaRPr>
          </a:p>
        </p:txBody>
      </p:sp>
      <p:pic>
        <p:nvPicPr>
          <p:cNvPr id="33" name="Picture 32">
            <a:extLst>
              <a:ext uri="{FF2B5EF4-FFF2-40B4-BE49-F238E27FC236}">
                <a16:creationId xmlns:a16="http://schemas.microsoft.com/office/drawing/2014/main" id="{5F05589E-1D39-4303-828D-C4F03A822B68}"/>
              </a:ext>
            </a:extLst>
          </p:cNvPr>
          <p:cNvPicPr/>
          <p:nvPr/>
        </p:nvPicPr>
        <p:blipFill>
          <a:blip r:embed="rId6"/>
          <a:stretch>
            <a:fillRect/>
          </a:stretch>
        </p:blipFill>
        <p:spPr>
          <a:xfrm>
            <a:off x="6411377" y="1840627"/>
            <a:ext cx="5225327" cy="3176746"/>
          </a:xfrm>
          <a:prstGeom prst="rect">
            <a:avLst/>
          </a:prstGeom>
        </p:spPr>
      </p:pic>
      <p:sp>
        <p:nvSpPr>
          <p:cNvPr id="35" name="TextBox 34">
            <a:extLst>
              <a:ext uri="{FF2B5EF4-FFF2-40B4-BE49-F238E27FC236}">
                <a16:creationId xmlns:a16="http://schemas.microsoft.com/office/drawing/2014/main" id="{66C6BC5A-574D-4392-A27B-F7E7DD750EAD}"/>
              </a:ext>
            </a:extLst>
          </p:cNvPr>
          <p:cNvSpPr txBox="1"/>
          <p:nvPr/>
        </p:nvSpPr>
        <p:spPr>
          <a:xfrm>
            <a:off x="1681500" y="4832707"/>
            <a:ext cx="785664" cy="369332"/>
          </a:xfrm>
          <a:prstGeom prst="rect">
            <a:avLst/>
          </a:prstGeom>
          <a:noFill/>
        </p:spPr>
        <p:txBody>
          <a:bodyPr wrap="none" rtlCol="0">
            <a:spAutoFit/>
          </a:bodyPr>
          <a:lstStyle/>
          <a:p>
            <a:r>
              <a:rPr lang="en-US" dirty="0"/>
              <a:t>Server</a:t>
            </a:r>
          </a:p>
        </p:txBody>
      </p:sp>
    </p:spTree>
    <p:extLst>
      <p:ext uri="{BB962C8B-B14F-4D97-AF65-F5344CB8AC3E}">
        <p14:creationId xmlns:p14="http://schemas.microsoft.com/office/powerpoint/2010/main" val="3514892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0BE021A-C22A-48B3-AEE7-459B38D79A08}"/>
              </a:ext>
            </a:extLst>
          </p:cNvPr>
          <p:cNvSpPr/>
          <p:nvPr/>
        </p:nvSpPr>
        <p:spPr>
          <a:xfrm>
            <a:off x="6400833" y="1389100"/>
            <a:ext cx="2458720" cy="20399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2" name="Flowchart: Process 31">
            <a:extLst>
              <a:ext uri="{FF2B5EF4-FFF2-40B4-BE49-F238E27FC236}">
                <a16:creationId xmlns:a16="http://schemas.microsoft.com/office/drawing/2014/main" id="{6E50D107-E5DE-438F-8AA4-2426B14C2280}"/>
              </a:ext>
            </a:extLst>
          </p:cNvPr>
          <p:cNvSpPr/>
          <p:nvPr/>
        </p:nvSpPr>
        <p:spPr>
          <a:xfrm>
            <a:off x="838200" y="2083065"/>
            <a:ext cx="2633132" cy="262440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4" name="Graphic 3" descr="Blackboard">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21889"/>
            <a:ext cx="1097280" cy="1097280"/>
          </a:xfrm>
          <a:prstGeom prst="rect">
            <a:avLst/>
          </a:prstGeom>
        </p:spPr>
      </p:pic>
      <p:sp>
        <p:nvSpPr>
          <p:cNvPr id="9" name="Title 9">
            <a:extLst>
              <a:ext uri="{FF2B5EF4-FFF2-40B4-BE49-F238E27FC236}">
                <a16:creationId xmlns:a16="http://schemas.microsoft.com/office/drawing/2014/main" id="{7BA464D9-0851-4ECF-917C-C6BAC8785181}"/>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System Architecture</a:t>
            </a:r>
          </a:p>
        </p:txBody>
      </p:sp>
      <p:sp>
        <p:nvSpPr>
          <p:cNvPr id="30" name="Text Box 13">
            <a:extLst>
              <a:ext uri="{FF2B5EF4-FFF2-40B4-BE49-F238E27FC236}">
                <a16:creationId xmlns:a16="http://schemas.microsoft.com/office/drawing/2014/main" id="{213884B7-A4EA-49A4-8FF8-50EF5C789ACA}"/>
              </a:ext>
            </a:extLst>
          </p:cNvPr>
          <p:cNvSpPr txBox="1"/>
          <p:nvPr/>
        </p:nvSpPr>
        <p:spPr>
          <a:xfrm>
            <a:off x="1207028" y="2420830"/>
            <a:ext cx="1895475" cy="9429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SocketServer’s</a:t>
            </a:r>
            <a:r>
              <a:rPr lang="en-US" sz="1200" b="1" dirty="0">
                <a:solidFill>
                  <a:srgbClr val="000000"/>
                </a:solidFill>
                <a:effectLst/>
                <a:latin typeface="Calibri" panose="020F0502020204030204" pitchFamily="34" charset="0"/>
                <a:ea typeface="Calibri" panose="020F0502020204030204" pitchFamily="34" charset="0"/>
              </a:rPr>
              <a:t> port : 5000</a:t>
            </a: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ss.accept</a:t>
            </a:r>
            <a:r>
              <a:rPr lang="en-US" sz="1200" b="1" dirty="0">
                <a:solidFill>
                  <a:srgbClr val="000000"/>
                </a:solidFill>
                <a:effectLst/>
                <a:latin typeface="Calibri" panose="020F0502020204030204" pitchFamily="34" charset="0"/>
                <a:ea typeface="Calibri" panose="020F0502020204030204" pitchFamily="34" charset="0"/>
              </a:rPr>
              <a:t>()</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12" name="Text Box 15">
            <a:extLst>
              <a:ext uri="{FF2B5EF4-FFF2-40B4-BE49-F238E27FC236}">
                <a16:creationId xmlns:a16="http://schemas.microsoft.com/office/drawing/2014/main" id="{5C46EC1F-D1EA-43C7-B5BB-84F28F45699D}"/>
              </a:ext>
            </a:extLst>
          </p:cNvPr>
          <p:cNvSpPr txBox="1"/>
          <p:nvPr/>
        </p:nvSpPr>
        <p:spPr>
          <a:xfrm>
            <a:off x="6802788" y="1869010"/>
            <a:ext cx="1654810" cy="8667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b="1" dirty="0">
                <a:solidFill>
                  <a:srgbClr val="000000"/>
                </a:solidFill>
                <a:effectLst/>
                <a:latin typeface="Calibri" panose="020F0502020204030204" pitchFamily="34" charset="0"/>
                <a:ea typeface="Calibri" panose="020F0502020204030204" pitchFamily="34" charset="0"/>
              </a:rPr>
              <a:t>Socket(localhost,5000)</a:t>
            </a:r>
            <a:endParaRPr lang="en-US" sz="1100" dirty="0">
              <a:solidFill>
                <a:srgbClr val="000000"/>
              </a:solidFill>
              <a:effectLst/>
              <a:latin typeface="Calibri" panose="020F0502020204030204" pitchFamily="34" charset="0"/>
              <a:ea typeface="Calibri" panose="020F0502020204030204" pitchFamily="34" charset="0"/>
            </a:endParaRPr>
          </a:p>
          <a:p>
            <a:pPr marL="0" marR="0" algn="ctr">
              <a:lnSpc>
                <a:spcPct val="107000"/>
              </a:lnSpc>
              <a:spcBef>
                <a:spcPts val="0"/>
              </a:spcBef>
              <a:spcAft>
                <a:spcPts val="800"/>
              </a:spcAft>
            </a:pPr>
            <a:r>
              <a:rPr lang="en-US" sz="1100" b="1" dirty="0">
                <a:solidFill>
                  <a:srgbClr val="000000"/>
                </a:solidFill>
                <a:effectLst/>
                <a:latin typeface="Calibri" panose="020F0502020204030204" pitchFamily="34" charset="0"/>
                <a:ea typeface="Calibri" panose="020F0502020204030204" pitchFamily="34" charset="0"/>
              </a:rPr>
              <a:t>Client(Name, Time, Image)</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13" name="TextBox 12">
            <a:extLst>
              <a:ext uri="{FF2B5EF4-FFF2-40B4-BE49-F238E27FC236}">
                <a16:creationId xmlns:a16="http://schemas.microsoft.com/office/drawing/2014/main" id="{B51E41FE-4E24-49D7-91FD-5908E85FA22E}"/>
              </a:ext>
            </a:extLst>
          </p:cNvPr>
          <p:cNvSpPr txBox="1"/>
          <p:nvPr/>
        </p:nvSpPr>
        <p:spPr>
          <a:xfrm>
            <a:off x="1681500" y="4832707"/>
            <a:ext cx="785664" cy="369332"/>
          </a:xfrm>
          <a:prstGeom prst="rect">
            <a:avLst/>
          </a:prstGeom>
          <a:noFill/>
        </p:spPr>
        <p:txBody>
          <a:bodyPr wrap="none" rtlCol="0">
            <a:spAutoFit/>
          </a:bodyPr>
          <a:lstStyle/>
          <a:p>
            <a:r>
              <a:rPr lang="en-US" dirty="0"/>
              <a:t>Server</a:t>
            </a:r>
          </a:p>
        </p:txBody>
      </p:sp>
      <p:sp>
        <p:nvSpPr>
          <p:cNvPr id="14" name="TextBox 13">
            <a:extLst>
              <a:ext uri="{FF2B5EF4-FFF2-40B4-BE49-F238E27FC236}">
                <a16:creationId xmlns:a16="http://schemas.microsoft.com/office/drawing/2014/main" id="{F2B15EBE-41E3-43D9-B065-0E06A5CDADB5}"/>
              </a:ext>
            </a:extLst>
          </p:cNvPr>
          <p:cNvSpPr txBox="1"/>
          <p:nvPr/>
        </p:nvSpPr>
        <p:spPr>
          <a:xfrm>
            <a:off x="9266141" y="2117733"/>
            <a:ext cx="725968" cy="369332"/>
          </a:xfrm>
          <a:prstGeom prst="rect">
            <a:avLst/>
          </a:prstGeom>
          <a:noFill/>
        </p:spPr>
        <p:txBody>
          <a:bodyPr wrap="none" rtlCol="0">
            <a:spAutoFit/>
          </a:bodyPr>
          <a:lstStyle/>
          <a:p>
            <a:r>
              <a:rPr lang="en-US" dirty="0"/>
              <a:t>Client</a:t>
            </a:r>
          </a:p>
        </p:txBody>
      </p:sp>
      <p:sp>
        <p:nvSpPr>
          <p:cNvPr id="18" name="Arrow: Right 17">
            <a:extLst>
              <a:ext uri="{FF2B5EF4-FFF2-40B4-BE49-F238E27FC236}">
                <a16:creationId xmlns:a16="http://schemas.microsoft.com/office/drawing/2014/main" id="{BCA1E595-CD5F-4563-A44B-DEEF2F097028}"/>
              </a:ext>
            </a:extLst>
          </p:cNvPr>
          <p:cNvSpPr/>
          <p:nvPr/>
        </p:nvSpPr>
        <p:spPr>
          <a:xfrm rot="10800000">
            <a:off x="3881397" y="2148398"/>
            <a:ext cx="2718097" cy="338667"/>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044244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91DC96-8928-4173-97B9-8D029662B031}"/>
              </a:ext>
            </a:extLst>
          </p:cNvPr>
          <p:cNvSpPr/>
          <p:nvPr/>
        </p:nvSpPr>
        <p:spPr>
          <a:xfrm>
            <a:off x="6400833" y="1389100"/>
            <a:ext cx="2458720" cy="20399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2" name="Flowchart: Process 31">
            <a:extLst>
              <a:ext uri="{FF2B5EF4-FFF2-40B4-BE49-F238E27FC236}">
                <a16:creationId xmlns:a16="http://schemas.microsoft.com/office/drawing/2014/main" id="{6E50D107-E5DE-438F-8AA4-2426B14C2280}"/>
              </a:ext>
            </a:extLst>
          </p:cNvPr>
          <p:cNvSpPr/>
          <p:nvPr/>
        </p:nvSpPr>
        <p:spPr>
          <a:xfrm>
            <a:off x="838200" y="2083065"/>
            <a:ext cx="2633132" cy="262440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4" name="Graphic 3" descr="Blackboard">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21889"/>
            <a:ext cx="1097280" cy="1097280"/>
          </a:xfrm>
          <a:prstGeom prst="rect">
            <a:avLst/>
          </a:prstGeom>
        </p:spPr>
      </p:pic>
      <p:sp>
        <p:nvSpPr>
          <p:cNvPr id="9" name="Title 9">
            <a:extLst>
              <a:ext uri="{FF2B5EF4-FFF2-40B4-BE49-F238E27FC236}">
                <a16:creationId xmlns:a16="http://schemas.microsoft.com/office/drawing/2014/main" id="{7BA464D9-0851-4ECF-917C-C6BAC8785181}"/>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System Architecture</a:t>
            </a:r>
          </a:p>
        </p:txBody>
      </p:sp>
      <p:sp>
        <p:nvSpPr>
          <p:cNvPr id="30" name="Text Box 13">
            <a:extLst>
              <a:ext uri="{FF2B5EF4-FFF2-40B4-BE49-F238E27FC236}">
                <a16:creationId xmlns:a16="http://schemas.microsoft.com/office/drawing/2014/main" id="{213884B7-A4EA-49A4-8FF8-50EF5C789ACA}"/>
              </a:ext>
            </a:extLst>
          </p:cNvPr>
          <p:cNvSpPr txBox="1"/>
          <p:nvPr/>
        </p:nvSpPr>
        <p:spPr>
          <a:xfrm>
            <a:off x="1207028" y="2420830"/>
            <a:ext cx="1895475" cy="9429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SocketServer’s</a:t>
            </a:r>
            <a:r>
              <a:rPr lang="en-US" sz="1200" b="1" dirty="0">
                <a:solidFill>
                  <a:srgbClr val="000000"/>
                </a:solidFill>
                <a:effectLst/>
                <a:latin typeface="Calibri" panose="020F0502020204030204" pitchFamily="34" charset="0"/>
                <a:ea typeface="Calibri" panose="020F0502020204030204" pitchFamily="34" charset="0"/>
              </a:rPr>
              <a:t> port : 5000</a:t>
            </a: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ss.accept</a:t>
            </a:r>
            <a:r>
              <a:rPr lang="en-US" sz="1200" b="1" dirty="0">
                <a:solidFill>
                  <a:srgbClr val="000000"/>
                </a:solidFill>
                <a:effectLst/>
                <a:latin typeface="Calibri" panose="020F0502020204030204" pitchFamily="34" charset="0"/>
                <a:ea typeface="Calibri" panose="020F0502020204030204" pitchFamily="34" charset="0"/>
              </a:rPr>
              <a:t>()</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31" name="Text Box 14">
            <a:extLst>
              <a:ext uri="{FF2B5EF4-FFF2-40B4-BE49-F238E27FC236}">
                <a16:creationId xmlns:a16="http://schemas.microsoft.com/office/drawing/2014/main" id="{41A532A4-BF1D-40CB-9992-92B800A52906}"/>
              </a:ext>
            </a:extLst>
          </p:cNvPr>
          <p:cNvSpPr txBox="1"/>
          <p:nvPr/>
        </p:nvSpPr>
        <p:spPr>
          <a:xfrm>
            <a:off x="1049865" y="3701570"/>
            <a:ext cx="2209800" cy="66675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200" b="1" dirty="0">
                <a:solidFill>
                  <a:srgbClr val="000000"/>
                </a:solidFill>
                <a:effectLst/>
                <a:latin typeface="Calibri" panose="020F0502020204030204" pitchFamily="34" charset="0"/>
                <a:ea typeface="Calibri" panose="020F0502020204030204" pitchFamily="34" charset="0"/>
              </a:rPr>
              <a:t>For (Client </a:t>
            </a:r>
            <a:r>
              <a:rPr lang="en-US" sz="1200" b="1" dirty="0" err="1">
                <a:solidFill>
                  <a:srgbClr val="000000"/>
                </a:solidFill>
                <a:effectLst/>
                <a:latin typeface="Calibri" panose="020F0502020204030204" pitchFamily="34" charset="0"/>
                <a:ea typeface="Calibri" panose="020F0502020204030204" pitchFamily="34" charset="0"/>
              </a:rPr>
              <a:t>client</a:t>
            </a:r>
            <a:r>
              <a:rPr lang="en-US" sz="1200" b="1" dirty="0">
                <a:solidFill>
                  <a:srgbClr val="000000"/>
                </a:solidFill>
                <a:effectLst/>
                <a:latin typeface="Calibri" panose="020F0502020204030204" pitchFamily="34" charset="0"/>
                <a:ea typeface="Calibri" panose="020F0502020204030204" pitchFamily="34" charset="0"/>
              </a:rPr>
              <a:t> : </a:t>
            </a:r>
            <a:r>
              <a:rPr lang="en-US" sz="1200" b="1" dirty="0" err="1">
                <a:solidFill>
                  <a:srgbClr val="000000"/>
                </a:solidFill>
                <a:effectLst/>
                <a:latin typeface="Calibri" panose="020F0502020204030204" pitchFamily="34" charset="0"/>
                <a:ea typeface="Calibri" panose="020F0502020204030204" pitchFamily="34" charset="0"/>
              </a:rPr>
              <a:t>getClients</a:t>
            </a:r>
            <a:r>
              <a:rPr lang="en-US" sz="1200" b="1" dirty="0">
                <a:solidFill>
                  <a:srgbClr val="000000"/>
                </a:solidFill>
                <a:effectLst/>
                <a:latin typeface="Calibri" panose="020F0502020204030204" pitchFamily="34" charset="0"/>
                <a:ea typeface="Calibri" panose="020F0502020204030204" pitchFamily="34" charset="0"/>
              </a:rPr>
              <a:t>() )</a:t>
            </a: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client.ouptutStream</a:t>
            </a:r>
            <a:r>
              <a:rPr lang="en-US" sz="1200" b="1" dirty="0">
                <a:solidFill>
                  <a:srgbClr val="000000"/>
                </a:solidFill>
                <a:effectLst/>
                <a:latin typeface="Calibri" panose="020F0502020204030204" pitchFamily="34" charset="0"/>
                <a:ea typeface="Calibri" panose="020F0502020204030204" pitchFamily="34" charset="0"/>
              </a:rPr>
              <a:t>()</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12" name="Text Box 15">
            <a:extLst>
              <a:ext uri="{FF2B5EF4-FFF2-40B4-BE49-F238E27FC236}">
                <a16:creationId xmlns:a16="http://schemas.microsoft.com/office/drawing/2014/main" id="{5C46EC1F-D1EA-43C7-B5BB-84F28F45699D}"/>
              </a:ext>
            </a:extLst>
          </p:cNvPr>
          <p:cNvSpPr txBox="1"/>
          <p:nvPr/>
        </p:nvSpPr>
        <p:spPr>
          <a:xfrm>
            <a:off x="6802788" y="1869010"/>
            <a:ext cx="1654810" cy="8667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b="1" dirty="0">
                <a:solidFill>
                  <a:srgbClr val="000000"/>
                </a:solidFill>
                <a:effectLst/>
                <a:latin typeface="Calibri" panose="020F0502020204030204" pitchFamily="34" charset="0"/>
                <a:ea typeface="Calibri" panose="020F0502020204030204" pitchFamily="34" charset="0"/>
              </a:rPr>
              <a:t>Socket(localhost,5000)</a:t>
            </a:r>
            <a:endParaRPr lang="en-US" sz="1100" dirty="0">
              <a:solidFill>
                <a:srgbClr val="000000"/>
              </a:solidFill>
              <a:effectLst/>
              <a:latin typeface="Calibri" panose="020F0502020204030204" pitchFamily="34" charset="0"/>
              <a:ea typeface="Calibri" panose="020F0502020204030204" pitchFamily="34" charset="0"/>
            </a:endParaRPr>
          </a:p>
          <a:p>
            <a:pPr marL="0" marR="0" algn="ctr">
              <a:lnSpc>
                <a:spcPct val="107000"/>
              </a:lnSpc>
              <a:spcBef>
                <a:spcPts val="0"/>
              </a:spcBef>
              <a:spcAft>
                <a:spcPts val="800"/>
              </a:spcAft>
            </a:pPr>
            <a:r>
              <a:rPr lang="en-US" sz="1100" b="1" dirty="0">
                <a:solidFill>
                  <a:srgbClr val="000000"/>
                </a:solidFill>
                <a:effectLst/>
                <a:latin typeface="Calibri" panose="020F0502020204030204" pitchFamily="34" charset="0"/>
                <a:ea typeface="Calibri" panose="020F0502020204030204" pitchFamily="34" charset="0"/>
              </a:rPr>
              <a:t>Client(Name, Time, Image)</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13" name="TextBox 12">
            <a:extLst>
              <a:ext uri="{FF2B5EF4-FFF2-40B4-BE49-F238E27FC236}">
                <a16:creationId xmlns:a16="http://schemas.microsoft.com/office/drawing/2014/main" id="{B51E41FE-4E24-49D7-91FD-5908E85FA22E}"/>
              </a:ext>
            </a:extLst>
          </p:cNvPr>
          <p:cNvSpPr txBox="1"/>
          <p:nvPr/>
        </p:nvSpPr>
        <p:spPr>
          <a:xfrm>
            <a:off x="1681500" y="4832707"/>
            <a:ext cx="785664" cy="369332"/>
          </a:xfrm>
          <a:prstGeom prst="rect">
            <a:avLst/>
          </a:prstGeom>
          <a:noFill/>
        </p:spPr>
        <p:txBody>
          <a:bodyPr wrap="none" rtlCol="0">
            <a:spAutoFit/>
          </a:bodyPr>
          <a:lstStyle/>
          <a:p>
            <a:r>
              <a:rPr lang="en-US" dirty="0"/>
              <a:t>Server</a:t>
            </a:r>
          </a:p>
        </p:txBody>
      </p:sp>
      <p:sp>
        <p:nvSpPr>
          <p:cNvPr id="14" name="TextBox 13">
            <a:extLst>
              <a:ext uri="{FF2B5EF4-FFF2-40B4-BE49-F238E27FC236}">
                <a16:creationId xmlns:a16="http://schemas.microsoft.com/office/drawing/2014/main" id="{F2B15EBE-41E3-43D9-B065-0E06A5CDADB5}"/>
              </a:ext>
            </a:extLst>
          </p:cNvPr>
          <p:cNvSpPr txBox="1"/>
          <p:nvPr/>
        </p:nvSpPr>
        <p:spPr>
          <a:xfrm>
            <a:off x="9266141" y="2117733"/>
            <a:ext cx="725968" cy="369332"/>
          </a:xfrm>
          <a:prstGeom prst="rect">
            <a:avLst/>
          </a:prstGeom>
          <a:noFill/>
        </p:spPr>
        <p:txBody>
          <a:bodyPr wrap="none" rtlCol="0">
            <a:spAutoFit/>
          </a:bodyPr>
          <a:lstStyle/>
          <a:p>
            <a:r>
              <a:rPr lang="en-US" dirty="0"/>
              <a:t>Client</a:t>
            </a:r>
          </a:p>
        </p:txBody>
      </p:sp>
      <p:sp>
        <p:nvSpPr>
          <p:cNvPr id="15" name="Flowchart: Process 14">
            <a:extLst>
              <a:ext uri="{FF2B5EF4-FFF2-40B4-BE49-F238E27FC236}">
                <a16:creationId xmlns:a16="http://schemas.microsoft.com/office/drawing/2014/main" id="{EC1B7E14-94F5-4F47-810D-27D1654C66E4}"/>
              </a:ext>
            </a:extLst>
          </p:cNvPr>
          <p:cNvSpPr/>
          <p:nvPr/>
        </p:nvSpPr>
        <p:spPr>
          <a:xfrm>
            <a:off x="6400833" y="3574898"/>
            <a:ext cx="2458720" cy="2774315"/>
          </a:xfrm>
          <a:prstGeom prst="flowChartProcess">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Text Box 18">
            <a:extLst>
              <a:ext uri="{FF2B5EF4-FFF2-40B4-BE49-F238E27FC236}">
                <a16:creationId xmlns:a16="http://schemas.microsoft.com/office/drawing/2014/main" id="{FE228280-CB6B-4640-8715-E3765270BA1F}"/>
              </a:ext>
            </a:extLst>
          </p:cNvPr>
          <p:cNvSpPr txBox="1"/>
          <p:nvPr/>
        </p:nvSpPr>
        <p:spPr>
          <a:xfrm>
            <a:off x="6672295" y="3997058"/>
            <a:ext cx="1915795" cy="320626"/>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200" b="1">
                <a:solidFill>
                  <a:srgbClr val="000000"/>
                </a:solidFill>
                <a:effectLst/>
                <a:latin typeface="Calibri" panose="020F0502020204030204" pitchFamily="34" charset="0"/>
                <a:ea typeface="Calibri" panose="020F0502020204030204" pitchFamily="34" charset="0"/>
              </a:rPr>
              <a:t>Update members list</a:t>
            </a:r>
            <a:endParaRPr lang="en-US" sz="1100">
              <a:solidFill>
                <a:srgbClr val="000000"/>
              </a:solidFill>
              <a:effectLst/>
              <a:latin typeface="Calibri" panose="020F0502020204030204" pitchFamily="34" charset="0"/>
              <a:ea typeface="Calibri" panose="020F0502020204030204" pitchFamily="34" charset="0"/>
            </a:endParaRPr>
          </a:p>
        </p:txBody>
      </p:sp>
      <p:sp>
        <p:nvSpPr>
          <p:cNvPr id="17" name="Arrow: Right 16">
            <a:extLst>
              <a:ext uri="{FF2B5EF4-FFF2-40B4-BE49-F238E27FC236}">
                <a16:creationId xmlns:a16="http://schemas.microsoft.com/office/drawing/2014/main" id="{1420AF34-5B0E-4485-B447-58BAE5E81B4C}"/>
              </a:ext>
            </a:extLst>
          </p:cNvPr>
          <p:cNvSpPr/>
          <p:nvPr/>
        </p:nvSpPr>
        <p:spPr>
          <a:xfrm>
            <a:off x="3818467" y="3997058"/>
            <a:ext cx="2718097" cy="338667"/>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8" name="Arrow: Right 17">
            <a:extLst>
              <a:ext uri="{FF2B5EF4-FFF2-40B4-BE49-F238E27FC236}">
                <a16:creationId xmlns:a16="http://schemas.microsoft.com/office/drawing/2014/main" id="{F2FE1972-1F93-4E1A-A496-DFBAF0B2356E}"/>
              </a:ext>
            </a:extLst>
          </p:cNvPr>
          <p:cNvSpPr/>
          <p:nvPr/>
        </p:nvSpPr>
        <p:spPr>
          <a:xfrm rot="10800000">
            <a:off x="3881397" y="2148398"/>
            <a:ext cx="2718097" cy="338667"/>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0" name="TextBox 19">
            <a:extLst>
              <a:ext uri="{FF2B5EF4-FFF2-40B4-BE49-F238E27FC236}">
                <a16:creationId xmlns:a16="http://schemas.microsoft.com/office/drawing/2014/main" id="{AFFF53F8-875A-4658-AEE3-48D2519913AF}"/>
              </a:ext>
            </a:extLst>
          </p:cNvPr>
          <p:cNvSpPr txBox="1"/>
          <p:nvPr/>
        </p:nvSpPr>
        <p:spPr>
          <a:xfrm>
            <a:off x="9266141" y="4902200"/>
            <a:ext cx="772456" cy="369332"/>
          </a:xfrm>
          <a:prstGeom prst="rect">
            <a:avLst/>
          </a:prstGeom>
          <a:noFill/>
        </p:spPr>
        <p:txBody>
          <a:bodyPr wrap="none" rtlCol="0">
            <a:spAutoFit/>
          </a:bodyPr>
          <a:lstStyle/>
          <a:p>
            <a:r>
              <a:rPr lang="en-US" dirty="0"/>
              <a:t>Group</a:t>
            </a:r>
          </a:p>
        </p:txBody>
      </p:sp>
    </p:spTree>
    <p:extLst>
      <p:ext uri="{BB962C8B-B14F-4D97-AF65-F5344CB8AC3E}">
        <p14:creationId xmlns:p14="http://schemas.microsoft.com/office/powerpoint/2010/main" val="2438755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91DC96-8928-4173-97B9-8D029662B031}"/>
              </a:ext>
            </a:extLst>
          </p:cNvPr>
          <p:cNvSpPr/>
          <p:nvPr/>
        </p:nvSpPr>
        <p:spPr>
          <a:xfrm>
            <a:off x="6400833" y="1389100"/>
            <a:ext cx="2458720" cy="20399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2" name="Flowchart: Process 31">
            <a:extLst>
              <a:ext uri="{FF2B5EF4-FFF2-40B4-BE49-F238E27FC236}">
                <a16:creationId xmlns:a16="http://schemas.microsoft.com/office/drawing/2014/main" id="{6E50D107-E5DE-438F-8AA4-2426B14C2280}"/>
              </a:ext>
            </a:extLst>
          </p:cNvPr>
          <p:cNvSpPr/>
          <p:nvPr/>
        </p:nvSpPr>
        <p:spPr>
          <a:xfrm>
            <a:off x="838200" y="2083065"/>
            <a:ext cx="2633132" cy="262440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4" name="Graphic 3" descr="Blackboard">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21889"/>
            <a:ext cx="1097280" cy="1097280"/>
          </a:xfrm>
          <a:prstGeom prst="rect">
            <a:avLst/>
          </a:prstGeom>
        </p:spPr>
      </p:pic>
      <p:sp>
        <p:nvSpPr>
          <p:cNvPr id="9" name="Title 9">
            <a:extLst>
              <a:ext uri="{FF2B5EF4-FFF2-40B4-BE49-F238E27FC236}">
                <a16:creationId xmlns:a16="http://schemas.microsoft.com/office/drawing/2014/main" id="{7BA464D9-0851-4ECF-917C-C6BAC8785181}"/>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System Architecture</a:t>
            </a:r>
          </a:p>
        </p:txBody>
      </p:sp>
      <p:sp>
        <p:nvSpPr>
          <p:cNvPr id="30" name="Text Box 13">
            <a:extLst>
              <a:ext uri="{FF2B5EF4-FFF2-40B4-BE49-F238E27FC236}">
                <a16:creationId xmlns:a16="http://schemas.microsoft.com/office/drawing/2014/main" id="{213884B7-A4EA-49A4-8FF8-50EF5C789ACA}"/>
              </a:ext>
            </a:extLst>
          </p:cNvPr>
          <p:cNvSpPr txBox="1"/>
          <p:nvPr/>
        </p:nvSpPr>
        <p:spPr>
          <a:xfrm>
            <a:off x="1207028" y="2420830"/>
            <a:ext cx="1895475" cy="9429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SocketServer’s</a:t>
            </a:r>
            <a:r>
              <a:rPr lang="en-US" sz="1200" b="1" dirty="0">
                <a:solidFill>
                  <a:srgbClr val="000000"/>
                </a:solidFill>
                <a:effectLst/>
                <a:latin typeface="Calibri" panose="020F0502020204030204" pitchFamily="34" charset="0"/>
                <a:ea typeface="Calibri" panose="020F0502020204030204" pitchFamily="34" charset="0"/>
              </a:rPr>
              <a:t> port : 5000</a:t>
            </a: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ss.accept</a:t>
            </a:r>
            <a:r>
              <a:rPr lang="en-US" sz="1200" b="1" dirty="0">
                <a:solidFill>
                  <a:srgbClr val="000000"/>
                </a:solidFill>
                <a:effectLst/>
                <a:latin typeface="Calibri" panose="020F0502020204030204" pitchFamily="34" charset="0"/>
                <a:ea typeface="Calibri" panose="020F0502020204030204" pitchFamily="34" charset="0"/>
              </a:rPr>
              <a:t>()</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31" name="Text Box 14">
            <a:extLst>
              <a:ext uri="{FF2B5EF4-FFF2-40B4-BE49-F238E27FC236}">
                <a16:creationId xmlns:a16="http://schemas.microsoft.com/office/drawing/2014/main" id="{41A532A4-BF1D-40CB-9992-92B800A52906}"/>
              </a:ext>
            </a:extLst>
          </p:cNvPr>
          <p:cNvSpPr txBox="1"/>
          <p:nvPr/>
        </p:nvSpPr>
        <p:spPr>
          <a:xfrm>
            <a:off x="1049865" y="3701570"/>
            <a:ext cx="2209800" cy="66675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200" b="1" dirty="0">
                <a:solidFill>
                  <a:srgbClr val="000000"/>
                </a:solidFill>
                <a:effectLst/>
                <a:latin typeface="Calibri" panose="020F0502020204030204" pitchFamily="34" charset="0"/>
                <a:ea typeface="Calibri" panose="020F0502020204030204" pitchFamily="34" charset="0"/>
              </a:rPr>
              <a:t>For (Client </a:t>
            </a:r>
            <a:r>
              <a:rPr lang="en-US" sz="1200" b="1" dirty="0" err="1">
                <a:solidFill>
                  <a:srgbClr val="000000"/>
                </a:solidFill>
                <a:effectLst/>
                <a:latin typeface="Calibri" panose="020F0502020204030204" pitchFamily="34" charset="0"/>
                <a:ea typeface="Calibri" panose="020F0502020204030204" pitchFamily="34" charset="0"/>
              </a:rPr>
              <a:t>client</a:t>
            </a:r>
            <a:r>
              <a:rPr lang="en-US" sz="1200" b="1" dirty="0">
                <a:solidFill>
                  <a:srgbClr val="000000"/>
                </a:solidFill>
                <a:effectLst/>
                <a:latin typeface="Calibri" panose="020F0502020204030204" pitchFamily="34" charset="0"/>
                <a:ea typeface="Calibri" panose="020F0502020204030204" pitchFamily="34" charset="0"/>
              </a:rPr>
              <a:t> : </a:t>
            </a:r>
            <a:r>
              <a:rPr lang="en-US" sz="1200" b="1" dirty="0" err="1">
                <a:solidFill>
                  <a:srgbClr val="000000"/>
                </a:solidFill>
                <a:effectLst/>
                <a:latin typeface="Calibri" panose="020F0502020204030204" pitchFamily="34" charset="0"/>
                <a:ea typeface="Calibri" panose="020F0502020204030204" pitchFamily="34" charset="0"/>
              </a:rPr>
              <a:t>getClients</a:t>
            </a:r>
            <a:r>
              <a:rPr lang="en-US" sz="1200" b="1" dirty="0">
                <a:solidFill>
                  <a:srgbClr val="000000"/>
                </a:solidFill>
                <a:effectLst/>
                <a:latin typeface="Calibri" panose="020F0502020204030204" pitchFamily="34" charset="0"/>
                <a:ea typeface="Calibri" panose="020F0502020204030204" pitchFamily="34" charset="0"/>
              </a:rPr>
              <a:t>() )</a:t>
            </a: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client.ouptutStream</a:t>
            </a:r>
            <a:r>
              <a:rPr lang="en-US" sz="1200" b="1" dirty="0">
                <a:solidFill>
                  <a:srgbClr val="000000"/>
                </a:solidFill>
                <a:effectLst/>
                <a:latin typeface="Calibri" panose="020F0502020204030204" pitchFamily="34" charset="0"/>
                <a:ea typeface="Calibri" panose="020F0502020204030204" pitchFamily="34" charset="0"/>
              </a:rPr>
              <a:t>()</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12" name="Text Box 15">
            <a:extLst>
              <a:ext uri="{FF2B5EF4-FFF2-40B4-BE49-F238E27FC236}">
                <a16:creationId xmlns:a16="http://schemas.microsoft.com/office/drawing/2014/main" id="{5C46EC1F-D1EA-43C7-B5BB-84F28F45699D}"/>
              </a:ext>
            </a:extLst>
          </p:cNvPr>
          <p:cNvSpPr txBox="1"/>
          <p:nvPr/>
        </p:nvSpPr>
        <p:spPr>
          <a:xfrm>
            <a:off x="6802788" y="1869010"/>
            <a:ext cx="1654810" cy="8667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b="1" dirty="0">
                <a:solidFill>
                  <a:srgbClr val="000000"/>
                </a:solidFill>
                <a:effectLst/>
                <a:latin typeface="Calibri" panose="020F0502020204030204" pitchFamily="34" charset="0"/>
                <a:ea typeface="Calibri" panose="020F0502020204030204" pitchFamily="34" charset="0"/>
              </a:rPr>
              <a:t>Socket(localhost,5000)</a:t>
            </a:r>
            <a:endParaRPr lang="en-US" sz="1100" dirty="0">
              <a:solidFill>
                <a:srgbClr val="000000"/>
              </a:solidFill>
              <a:effectLst/>
              <a:latin typeface="Calibri" panose="020F0502020204030204" pitchFamily="34" charset="0"/>
              <a:ea typeface="Calibri" panose="020F0502020204030204" pitchFamily="34" charset="0"/>
            </a:endParaRPr>
          </a:p>
          <a:p>
            <a:pPr marL="0" marR="0" algn="ctr">
              <a:lnSpc>
                <a:spcPct val="107000"/>
              </a:lnSpc>
              <a:spcBef>
                <a:spcPts val="0"/>
              </a:spcBef>
              <a:spcAft>
                <a:spcPts val="800"/>
              </a:spcAft>
            </a:pPr>
            <a:r>
              <a:rPr lang="en-US" sz="1100" b="1" dirty="0">
                <a:solidFill>
                  <a:srgbClr val="000000"/>
                </a:solidFill>
                <a:effectLst/>
                <a:latin typeface="Calibri" panose="020F0502020204030204" pitchFamily="34" charset="0"/>
                <a:ea typeface="Calibri" panose="020F0502020204030204" pitchFamily="34" charset="0"/>
              </a:rPr>
              <a:t>Client(Name, Time, Image)</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13" name="TextBox 12">
            <a:extLst>
              <a:ext uri="{FF2B5EF4-FFF2-40B4-BE49-F238E27FC236}">
                <a16:creationId xmlns:a16="http://schemas.microsoft.com/office/drawing/2014/main" id="{B51E41FE-4E24-49D7-91FD-5908E85FA22E}"/>
              </a:ext>
            </a:extLst>
          </p:cNvPr>
          <p:cNvSpPr txBox="1"/>
          <p:nvPr/>
        </p:nvSpPr>
        <p:spPr>
          <a:xfrm>
            <a:off x="1681500" y="4832707"/>
            <a:ext cx="785664" cy="369332"/>
          </a:xfrm>
          <a:prstGeom prst="rect">
            <a:avLst/>
          </a:prstGeom>
          <a:noFill/>
        </p:spPr>
        <p:txBody>
          <a:bodyPr wrap="none" rtlCol="0">
            <a:spAutoFit/>
          </a:bodyPr>
          <a:lstStyle/>
          <a:p>
            <a:r>
              <a:rPr lang="en-US" dirty="0"/>
              <a:t>Server</a:t>
            </a:r>
          </a:p>
        </p:txBody>
      </p:sp>
      <p:sp>
        <p:nvSpPr>
          <p:cNvPr id="14" name="TextBox 13">
            <a:extLst>
              <a:ext uri="{FF2B5EF4-FFF2-40B4-BE49-F238E27FC236}">
                <a16:creationId xmlns:a16="http://schemas.microsoft.com/office/drawing/2014/main" id="{F2B15EBE-41E3-43D9-B065-0E06A5CDADB5}"/>
              </a:ext>
            </a:extLst>
          </p:cNvPr>
          <p:cNvSpPr txBox="1"/>
          <p:nvPr/>
        </p:nvSpPr>
        <p:spPr>
          <a:xfrm>
            <a:off x="9266141" y="2117733"/>
            <a:ext cx="725968" cy="369332"/>
          </a:xfrm>
          <a:prstGeom prst="rect">
            <a:avLst/>
          </a:prstGeom>
          <a:noFill/>
        </p:spPr>
        <p:txBody>
          <a:bodyPr wrap="none" rtlCol="0">
            <a:spAutoFit/>
          </a:bodyPr>
          <a:lstStyle/>
          <a:p>
            <a:r>
              <a:rPr lang="en-US" dirty="0"/>
              <a:t>Client</a:t>
            </a:r>
          </a:p>
        </p:txBody>
      </p:sp>
      <p:sp>
        <p:nvSpPr>
          <p:cNvPr id="15" name="Flowchart: Process 14">
            <a:extLst>
              <a:ext uri="{FF2B5EF4-FFF2-40B4-BE49-F238E27FC236}">
                <a16:creationId xmlns:a16="http://schemas.microsoft.com/office/drawing/2014/main" id="{EC1B7E14-94F5-4F47-810D-27D1654C66E4}"/>
              </a:ext>
            </a:extLst>
          </p:cNvPr>
          <p:cNvSpPr/>
          <p:nvPr/>
        </p:nvSpPr>
        <p:spPr>
          <a:xfrm>
            <a:off x="6400833" y="3574898"/>
            <a:ext cx="2458720" cy="2774315"/>
          </a:xfrm>
          <a:prstGeom prst="flowChartProcess">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Text Box 18">
            <a:extLst>
              <a:ext uri="{FF2B5EF4-FFF2-40B4-BE49-F238E27FC236}">
                <a16:creationId xmlns:a16="http://schemas.microsoft.com/office/drawing/2014/main" id="{FE228280-CB6B-4640-8715-E3765270BA1F}"/>
              </a:ext>
            </a:extLst>
          </p:cNvPr>
          <p:cNvSpPr txBox="1"/>
          <p:nvPr/>
        </p:nvSpPr>
        <p:spPr>
          <a:xfrm>
            <a:off x="6672295" y="3997058"/>
            <a:ext cx="1915795" cy="320626"/>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200" b="1">
                <a:solidFill>
                  <a:srgbClr val="000000"/>
                </a:solidFill>
                <a:effectLst/>
                <a:latin typeface="Calibri" panose="020F0502020204030204" pitchFamily="34" charset="0"/>
                <a:ea typeface="Calibri" panose="020F0502020204030204" pitchFamily="34" charset="0"/>
              </a:rPr>
              <a:t>Update members list</a:t>
            </a:r>
            <a:endParaRPr lang="en-US" sz="1100">
              <a:solidFill>
                <a:srgbClr val="000000"/>
              </a:solidFill>
              <a:effectLst/>
              <a:latin typeface="Calibri" panose="020F0502020204030204" pitchFamily="34" charset="0"/>
              <a:ea typeface="Calibri" panose="020F0502020204030204" pitchFamily="34" charset="0"/>
            </a:endParaRPr>
          </a:p>
        </p:txBody>
      </p:sp>
      <p:sp>
        <p:nvSpPr>
          <p:cNvPr id="19" name="Text Box 22">
            <a:extLst>
              <a:ext uri="{FF2B5EF4-FFF2-40B4-BE49-F238E27FC236}">
                <a16:creationId xmlns:a16="http://schemas.microsoft.com/office/drawing/2014/main" id="{17F6CD86-FD96-406E-B813-974F7E24A981}"/>
              </a:ext>
            </a:extLst>
          </p:cNvPr>
          <p:cNvSpPr txBox="1"/>
          <p:nvPr/>
        </p:nvSpPr>
        <p:spPr>
          <a:xfrm>
            <a:off x="6672295" y="4739844"/>
            <a:ext cx="1906270" cy="5207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200" b="1">
                <a:solidFill>
                  <a:srgbClr val="000000"/>
                </a:solidFill>
                <a:effectLst/>
                <a:latin typeface="Calibri" panose="020F0502020204030204" pitchFamily="34" charset="0"/>
                <a:ea typeface="Calibri" panose="020F0502020204030204" pitchFamily="34" charset="0"/>
              </a:rPr>
              <a:t>Send any messages or images or emojis</a:t>
            </a:r>
            <a:endParaRPr lang="en-US" sz="1100">
              <a:solidFill>
                <a:srgbClr val="000000"/>
              </a:solidFill>
              <a:effectLst/>
              <a:latin typeface="Calibri" panose="020F0502020204030204" pitchFamily="34" charset="0"/>
              <a:ea typeface="Calibri" panose="020F0502020204030204" pitchFamily="34" charset="0"/>
            </a:endParaRPr>
          </a:p>
        </p:txBody>
      </p:sp>
      <p:sp>
        <p:nvSpPr>
          <p:cNvPr id="21" name="Arrow: Right 20">
            <a:extLst>
              <a:ext uri="{FF2B5EF4-FFF2-40B4-BE49-F238E27FC236}">
                <a16:creationId xmlns:a16="http://schemas.microsoft.com/office/drawing/2014/main" id="{EDDC5F54-1663-4756-A31C-E303A21EDDE7}"/>
              </a:ext>
            </a:extLst>
          </p:cNvPr>
          <p:cNvSpPr/>
          <p:nvPr/>
        </p:nvSpPr>
        <p:spPr>
          <a:xfrm rot="12513710">
            <a:off x="3619431" y="4058778"/>
            <a:ext cx="3092794" cy="338667"/>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2" name="TextBox 21">
            <a:extLst>
              <a:ext uri="{FF2B5EF4-FFF2-40B4-BE49-F238E27FC236}">
                <a16:creationId xmlns:a16="http://schemas.microsoft.com/office/drawing/2014/main" id="{7B3A57A6-AD72-4734-96FF-BEFA1746A83C}"/>
              </a:ext>
            </a:extLst>
          </p:cNvPr>
          <p:cNvSpPr txBox="1"/>
          <p:nvPr/>
        </p:nvSpPr>
        <p:spPr>
          <a:xfrm>
            <a:off x="9266141" y="4902200"/>
            <a:ext cx="772456" cy="369332"/>
          </a:xfrm>
          <a:prstGeom prst="rect">
            <a:avLst/>
          </a:prstGeom>
          <a:noFill/>
        </p:spPr>
        <p:txBody>
          <a:bodyPr wrap="none" rtlCol="0">
            <a:spAutoFit/>
          </a:bodyPr>
          <a:lstStyle/>
          <a:p>
            <a:r>
              <a:rPr lang="en-US" dirty="0"/>
              <a:t>Group</a:t>
            </a:r>
          </a:p>
        </p:txBody>
      </p:sp>
    </p:spTree>
    <p:extLst>
      <p:ext uri="{BB962C8B-B14F-4D97-AF65-F5344CB8AC3E}">
        <p14:creationId xmlns:p14="http://schemas.microsoft.com/office/powerpoint/2010/main" val="2797934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91DC96-8928-4173-97B9-8D029662B031}"/>
              </a:ext>
            </a:extLst>
          </p:cNvPr>
          <p:cNvSpPr/>
          <p:nvPr/>
        </p:nvSpPr>
        <p:spPr>
          <a:xfrm>
            <a:off x="6400833" y="1389100"/>
            <a:ext cx="2458720" cy="20399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32" name="Flowchart: Process 31">
            <a:extLst>
              <a:ext uri="{FF2B5EF4-FFF2-40B4-BE49-F238E27FC236}">
                <a16:creationId xmlns:a16="http://schemas.microsoft.com/office/drawing/2014/main" id="{6E50D107-E5DE-438F-8AA4-2426B14C2280}"/>
              </a:ext>
            </a:extLst>
          </p:cNvPr>
          <p:cNvSpPr/>
          <p:nvPr/>
        </p:nvSpPr>
        <p:spPr>
          <a:xfrm>
            <a:off x="838200" y="2083065"/>
            <a:ext cx="2633132" cy="262440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pic>
        <p:nvPicPr>
          <p:cNvPr id="4" name="Graphic 3" descr="Blackboard">
            <a:extLst>
              <a:ext uri="{FF2B5EF4-FFF2-40B4-BE49-F238E27FC236}">
                <a16:creationId xmlns:a16="http://schemas.microsoft.com/office/drawing/2014/main" id="{A4298283-DDB8-4365-95A1-90935E16BE2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21889"/>
            <a:ext cx="1097280" cy="1097280"/>
          </a:xfrm>
          <a:prstGeom prst="rect">
            <a:avLst/>
          </a:prstGeom>
        </p:spPr>
      </p:pic>
      <p:sp>
        <p:nvSpPr>
          <p:cNvPr id="9" name="Title 9">
            <a:extLst>
              <a:ext uri="{FF2B5EF4-FFF2-40B4-BE49-F238E27FC236}">
                <a16:creationId xmlns:a16="http://schemas.microsoft.com/office/drawing/2014/main" id="{7BA464D9-0851-4ECF-917C-C6BAC8785181}"/>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System Architecture</a:t>
            </a:r>
          </a:p>
        </p:txBody>
      </p:sp>
      <p:sp>
        <p:nvSpPr>
          <p:cNvPr id="30" name="Text Box 13">
            <a:extLst>
              <a:ext uri="{FF2B5EF4-FFF2-40B4-BE49-F238E27FC236}">
                <a16:creationId xmlns:a16="http://schemas.microsoft.com/office/drawing/2014/main" id="{213884B7-A4EA-49A4-8FF8-50EF5C789ACA}"/>
              </a:ext>
            </a:extLst>
          </p:cNvPr>
          <p:cNvSpPr txBox="1"/>
          <p:nvPr/>
        </p:nvSpPr>
        <p:spPr>
          <a:xfrm>
            <a:off x="1207028" y="2420830"/>
            <a:ext cx="1895475" cy="9429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SocketServer’s</a:t>
            </a:r>
            <a:r>
              <a:rPr lang="en-US" sz="1200" b="1" dirty="0">
                <a:solidFill>
                  <a:srgbClr val="000000"/>
                </a:solidFill>
                <a:effectLst/>
                <a:latin typeface="Calibri" panose="020F0502020204030204" pitchFamily="34" charset="0"/>
                <a:ea typeface="Calibri" panose="020F0502020204030204" pitchFamily="34" charset="0"/>
              </a:rPr>
              <a:t> port : 5000</a:t>
            </a: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ss.accept</a:t>
            </a:r>
            <a:r>
              <a:rPr lang="en-US" sz="1200" b="1" dirty="0">
                <a:solidFill>
                  <a:srgbClr val="000000"/>
                </a:solidFill>
                <a:effectLst/>
                <a:latin typeface="Calibri" panose="020F0502020204030204" pitchFamily="34" charset="0"/>
                <a:ea typeface="Calibri" panose="020F0502020204030204" pitchFamily="34" charset="0"/>
              </a:rPr>
              <a:t>()</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31" name="Text Box 14">
            <a:extLst>
              <a:ext uri="{FF2B5EF4-FFF2-40B4-BE49-F238E27FC236}">
                <a16:creationId xmlns:a16="http://schemas.microsoft.com/office/drawing/2014/main" id="{41A532A4-BF1D-40CB-9992-92B800A52906}"/>
              </a:ext>
            </a:extLst>
          </p:cNvPr>
          <p:cNvSpPr txBox="1"/>
          <p:nvPr/>
        </p:nvSpPr>
        <p:spPr>
          <a:xfrm>
            <a:off x="1049865" y="3701570"/>
            <a:ext cx="2209800" cy="66675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nSpc>
                <a:spcPct val="107000"/>
              </a:lnSpc>
              <a:spcBef>
                <a:spcPts val="0"/>
              </a:spcBef>
              <a:spcAft>
                <a:spcPts val="800"/>
              </a:spcAft>
            </a:pPr>
            <a:r>
              <a:rPr lang="en-US" sz="1200" b="1" dirty="0">
                <a:solidFill>
                  <a:srgbClr val="000000"/>
                </a:solidFill>
                <a:effectLst/>
                <a:latin typeface="Calibri" panose="020F0502020204030204" pitchFamily="34" charset="0"/>
                <a:ea typeface="Calibri" panose="020F0502020204030204" pitchFamily="34" charset="0"/>
              </a:rPr>
              <a:t>For (Client </a:t>
            </a:r>
            <a:r>
              <a:rPr lang="en-US" sz="1200" b="1" dirty="0" err="1">
                <a:solidFill>
                  <a:srgbClr val="000000"/>
                </a:solidFill>
                <a:effectLst/>
                <a:latin typeface="Calibri" panose="020F0502020204030204" pitchFamily="34" charset="0"/>
                <a:ea typeface="Calibri" panose="020F0502020204030204" pitchFamily="34" charset="0"/>
              </a:rPr>
              <a:t>client</a:t>
            </a:r>
            <a:r>
              <a:rPr lang="en-US" sz="1200" b="1" dirty="0">
                <a:solidFill>
                  <a:srgbClr val="000000"/>
                </a:solidFill>
                <a:effectLst/>
                <a:latin typeface="Calibri" panose="020F0502020204030204" pitchFamily="34" charset="0"/>
                <a:ea typeface="Calibri" panose="020F0502020204030204" pitchFamily="34" charset="0"/>
              </a:rPr>
              <a:t> : </a:t>
            </a:r>
            <a:r>
              <a:rPr lang="en-US" sz="1200" b="1" dirty="0" err="1">
                <a:solidFill>
                  <a:srgbClr val="000000"/>
                </a:solidFill>
                <a:effectLst/>
                <a:latin typeface="Calibri" panose="020F0502020204030204" pitchFamily="34" charset="0"/>
                <a:ea typeface="Calibri" panose="020F0502020204030204" pitchFamily="34" charset="0"/>
              </a:rPr>
              <a:t>getClients</a:t>
            </a:r>
            <a:r>
              <a:rPr lang="en-US" sz="1200" b="1" dirty="0">
                <a:solidFill>
                  <a:srgbClr val="000000"/>
                </a:solidFill>
                <a:effectLst/>
                <a:latin typeface="Calibri" panose="020F0502020204030204" pitchFamily="34" charset="0"/>
                <a:ea typeface="Calibri" panose="020F0502020204030204" pitchFamily="34" charset="0"/>
              </a:rPr>
              <a:t>() )</a:t>
            </a:r>
            <a:br>
              <a:rPr lang="en-US" sz="1200" b="1" dirty="0">
                <a:solidFill>
                  <a:srgbClr val="000000"/>
                </a:solidFill>
                <a:effectLst/>
                <a:latin typeface="Calibri" panose="020F0502020204030204" pitchFamily="34" charset="0"/>
                <a:ea typeface="Calibri" panose="020F0502020204030204" pitchFamily="34" charset="0"/>
              </a:rPr>
            </a:br>
            <a:r>
              <a:rPr lang="en-US" sz="1200" b="1" dirty="0" err="1">
                <a:solidFill>
                  <a:srgbClr val="000000"/>
                </a:solidFill>
                <a:effectLst/>
                <a:latin typeface="Calibri" panose="020F0502020204030204" pitchFamily="34" charset="0"/>
                <a:ea typeface="Calibri" panose="020F0502020204030204" pitchFamily="34" charset="0"/>
              </a:rPr>
              <a:t>client.ouptutStream</a:t>
            </a:r>
            <a:r>
              <a:rPr lang="en-US" sz="1200" b="1" dirty="0">
                <a:solidFill>
                  <a:srgbClr val="000000"/>
                </a:solidFill>
                <a:effectLst/>
                <a:latin typeface="Calibri" panose="020F0502020204030204" pitchFamily="34" charset="0"/>
                <a:ea typeface="Calibri" panose="020F0502020204030204" pitchFamily="34" charset="0"/>
              </a:rPr>
              <a:t>()</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12" name="Text Box 15">
            <a:extLst>
              <a:ext uri="{FF2B5EF4-FFF2-40B4-BE49-F238E27FC236}">
                <a16:creationId xmlns:a16="http://schemas.microsoft.com/office/drawing/2014/main" id="{5C46EC1F-D1EA-43C7-B5BB-84F28F45699D}"/>
              </a:ext>
            </a:extLst>
          </p:cNvPr>
          <p:cNvSpPr txBox="1"/>
          <p:nvPr/>
        </p:nvSpPr>
        <p:spPr>
          <a:xfrm>
            <a:off x="6802788" y="1869010"/>
            <a:ext cx="1654810" cy="86677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100" b="1" dirty="0">
                <a:solidFill>
                  <a:srgbClr val="000000"/>
                </a:solidFill>
                <a:effectLst/>
                <a:latin typeface="Calibri" panose="020F0502020204030204" pitchFamily="34" charset="0"/>
                <a:ea typeface="Calibri" panose="020F0502020204030204" pitchFamily="34" charset="0"/>
              </a:rPr>
              <a:t>Socket(localhost,5000)</a:t>
            </a:r>
            <a:endParaRPr lang="en-US" sz="1100" dirty="0">
              <a:solidFill>
                <a:srgbClr val="000000"/>
              </a:solidFill>
              <a:effectLst/>
              <a:latin typeface="Calibri" panose="020F0502020204030204" pitchFamily="34" charset="0"/>
              <a:ea typeface="Calibri" panose="020F0502020204030204" pitchFamily="34" charset="0"/>
            </a:endParaRPr>
          </a:p>
          <a:p>
            <a:pPr marL="0" marR="0" algn="ctr">
              <a:lnSpc>
                <a:spcPct val="107000"/>
              </a:lnSpc>
              <a:spcBef>
                <a:spcPts val="0"/>
              </a:spcBef>
              <a:spcAft>
                <a:spcPts val="800"/>
              </a:spcAft>
            </a:pPr>
            <a:r>
              <a:rPr lang="en-US" sz="1100" b="1" dirty="0">
                <a:solidFill>
                  <a:srgbClr val="000000"/>
                </a:solidFill>
                <a:effectLst/>
                <a:latin typeface="Calibri" panose="020F0502020204030204" pitchFamily="34" charset="0"/>
                <a:ea typeface="Calibri" panose="020F0502020204030204" pitchFamily="34" charset="0"/>
              </a:rPr>
              <a:t>Client(Name, Time, Image)</a:t>
            </a:r>
            <a:endParaRPr lang="en-US" sz="1100" dirty="0">
              <a:solidFill>
                <a:srgbClr val="000000"/>
              </a:solidFill>
              <a:effectLst/>
              <a:latin typeface="Calibri" panose="020F0502020204030204" pitchFamily="34" charset="0"/>
              <a:ea typeface="Calibri" panose="020F0502020204030204" pitchFamily="34" charset="0"/>
            </a:endParaRPr>
          </a:p>
        </p:txBody>
      </p:sp>
      <p:sp>
        <p:nvSpPr>
          <p:cNvPr id="13" name="TextBox 12">
            <a:extLst>
              <a:ext uri="{FF2B5EF4-FFF2-40B4-BE49-F238E27FC236}">
                <a16:creationId xmlns:a16="http://schemas.microsoft.com/office/drawing/2014/main" id="{B51E41FE-4E24-49D7-91FD-5908E85FA22E}"/>
              </a:ext>
            </a:extLst>
          </p:cNvPr>
          <p:cNvSpPr txBox="1"/>
          <p:nvPr/>
        </p:nvSpPr>
        <p:spPr>
          <a:xfrm>
            <a:off x="1681500" y="4832707"/>
            <a:ext cx="785664" cy="369332"/>
          </a:xfrm>
          <a:prstGeom prst="rect">
            <a:avLst/>
          </a:prstGeom>
          <a:noFill/>
        </p:spPr>
        <p:txBody>
          <a:bodyPr wrap="none" rtlCol="0">
            <a:spAutoFit/>
          </a:bodyPr>
          <a:lstStyle/>
          <a:p>
            <a:r>
              <a:rPr lang="en-US" dirty="0"/>
              <a:t>Server</a:t>
            </a:r>
          </a:p>
        </p:txBody>
      </p:sp>
      <p:sp>
        <p:nvSpPr>
          <p:cNvPr id="14" name="TextBox 13">
            <a:extLst>
              <a:ext uri="{FF2B5EF4-FFF2-40B4-BE49-F238E27FC236}">
                <a16:creationId xmlns:a16="http://schemas.microsoft.com/office/drawing/2014/main" id="{F2B15EBE-41E3-43D9-B065-0E06A5CDADB5}"/>
              </a:ext>
            </a:extLst>
          </p:cNvPr>
          <p:cNvSpPr txBox="1"/>
          <p:nvPr/>
        </p:nvSpPr>
        <p:spPr>
          <a:xfrm>
            <a:off x="9266141" y="2117733"/>
            <a:ext cx="725968" cy="369332"/>
          </a:xfrm>
          <a:prstGeom prst="rect">
            <a:avLst/>
          </a:prstGeom>
          <a:noFill/>
        </p:spPr>
        <p:txBody>
          <a:bodyPr wrap="none" rtlCol="0">
            <a:spAutoFit/>
          </a:bodyPr>
          <a:lstStyle/>
          <a:p>
            <a:r>
              <a:rPr lang="en-US" dirty="0"/>
              <a:t>Client</a:t>
            </a:r>
          </a:p>
        </p:txBody>
      </p:sp>
      <p:sp>
        <p:nvSpPr>
          <p:cNvPr id="15" name="Flowchart: Process 14">
            <a:extLst>
              <a:ext uri="{FF2B5EF4-FFF2-40B4-BE49-F238E27FC236}">
                <a16:creationId xmlns:a16="http://schemas.microsoft.com/office/drawing/2014/main" id="{EC1B7E14-94F5-4F47-810D-27D1654C66E4}"/>
              </a:ext>
            </a:extLst>
          </p:cNvPr>
          <p:cNvSpPr/>
          <p:nvPr/>
        </p:nvSpPr>
        <p:spPr>
          <a:xfrm>
            <a:off x="6400833" y="3574898"/>
            <a:ext cx="2458720" cy="2774315"/>
          </a:xfrm>
          <a:prstGeom prst="flowChartProcess">
            <a:avLst/>
          </a:prstGeom>
        </p:spPr>
        <p:style>
          <a:lnRef idx="1">
            <a:schemeClr val="accent6"/>
          </a:lnRef>
          <a:fillRef idx="2">
            <a:schemeClr val="accent6"/>
          </a:fillRef>
          <a:effectRef idx="1">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6" name="Text Box 18">
            <a:extLst>
              <a:ext uri="{FF2B5EF4-FFF2-40B4-BE49-F238E27FC236}">
                <a16:creationId xmlns:a16="http://schemas.microsoft.com/office/drawing/2014/main" id="{FE228280-CB6B-4640-8715-E3765270BA1F}"/>
              </a:ext>
            </a:extLst>
          </p:cNvPr>
          <p:cNvSpPr txBox="1"/>
          <p:nvPr/>
        </p:nvSpPr>
        <p:spPr>
          <a:xfrm>
            <a:off x="6672295" y="3997058"/>
            <a:ext cx="1915795" cy="320626"/>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200" b="1">
                <a:solidFill>
                  <a:srgbClr val="000000"/>
                </a:solidFill>
                <a:effectLst/>
                <a:latin typeface="Calibri" panose="020F0502020204030204" pitchFamily="34" charset="0"/>
                <a:ea typeface="Calibri" panose="020F0502020204030204" pitchFamily="34" charset="0"/>
              </a:rPr>
              <a:t>Update members list</a:t>
            </a:r>
            <a:endParaRPr lang="en-US" sz="1100">
              <a:solidFill>
                <a:srgbClr val="000000"/>
              </a:solidFill>
              <a:effectLst/>
              <a:latin typeface="Calibri" panose="020F0502020204030204" pitchFamily="34" charset="0"/>
              <a:ea typeface="Calibri" panose="020F0502020204030204" pitchFamily="34" charset="0"/>
            </a:endParaRPr>
          </a:p>
        </p:txBody>
      </p:sp>
      <p:sp>
        <p:nvSpPr>
          <p:cNvPr id="19" name="Text Box 22">
            <a:extLst>
              <a:ext uri="{FF2B5EF4-FFF2-40B4-BE49-F238E27FC236}">
                <a16:creationId xmlns:a16="http://schemas.microsoft.com/office/drawing/2014/main" id="{17F6CD86-FD96-406E-B813-974F7E24A981}"/>
              </a:ext>
            </a:extLst>
          </p:cNvPr>
          <p:cNvSpPr txBox="1"/>
          <p:nvPr/>
        </p:nvSpPr>
        <p:spPr>
          <a:xfrm>
            <a:off x="6672295" y="4739844"/>
            <a:ext cx="1906270" cy="520700"/>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200" b="1">
                <a:solidFill>
                  <a:srgbClr val="000000"/>
                </a:solidFill>
                <a:effectLst/>
                <a:latin typeface="Calibri" panose="020F0502020204030204" pitchFamily="34" charset="0"/>
                <a:ea typeface="Calibri" panose="020F0502020204030204" pitchFamily="34" charset="0"/>
              </a:rPr>
              <a:t>Send any messages or images or emojis</a:t>
            </a:r>
            <a:endParaRPr lang="en-US" sz="1100">
              <a:solidFill>
                <a:srgbClr val="000000"/>
              </a:solidFill>
              <a:effectLst/>
              <a:latin typeface="Calibri" panose="020F0502020204030204" pitchFamily="34" charset="0"/>
              <a:ea typeface="Calibri" panose="020F0502020204030204" pitchFamily="34" charset="0"/>
            </a:endParaRPr>
          </a:p>
        </p:txBody>
      </p:sp>
      <p:sp>
        <p:nvSpPr>
          <p:cNvPr id="22" name="TextBox 21">
            <a:extLst>
              <a:ext uri="{FF2B5EF4-FFF2-40B4-BE49-F238E27FC236}">
                <a16:creationId xmlns:a16="http://schemas.microsoft.com/office/drawing/2014/main" id="{7B3A57A6-AD72-4734-96FF-BEFA1746A83C}"/>
              </a:ext>
            </a:extLst>
          </p:cNvPr>
          <p:cNvSpPr txBox="1"/>
          <p:nvPr/>
        </p:nvSpPr>
        <p:spPr>
          <a:xfrm>
            <a:off x="9266141" y="4902200"/>
            <a:ext cx="772456" cy="369332"/>
          </a:xfrm>
          <a:prstGeom prst="rect">
            <a:avLst/>
          </a:prstGeom>
          <a:noFill/>
        </p:spPr>
        <p:txBody>
          <a:bodyPr wrap="none" rtlCol="0">
            <a:spAutoFit/>
          </a:bodyPr>
          <a:lstStyle/>
          <a:p>
            <a:r>
              <a:rPr lang="en-US" dirty="0"/>
              <a:t>Group</a:t>
            </a:r>
          </a:p>
        </p:txBody>
      </p:sp>
      <p:sp>
        <p:nvSpPr>
          <p:cNvPr id="17" name="Text Box 24">
            <a:extLst>
              <a:ext uri="{FF2B5EF4-FFF2-40B4-BE49-F238E27FC236}">
                <a16:creationId xmlns:a16="http://schemas.microsoft.com/office/drawing/2014/main" id="{B5BA8DF2-47C3-4FDD-83C0-4F44BADE890F}"/>
              </a:ext>
            </a:extLst>
          </p:cNvPr>
          <p:cNvSpPr txBox="1"/>
          <p:nvPr/>
        </p:nvSpPr>
        <p:spPr>
          <a:xfrm>
            <a:off x="6672295" y="5682704"/>
            <a:ext cx="1854200" cy="362585"/>
          </a:xfrm>
          <a:prstGeom prst="rect">
            <a:avLst/>
          </a:prstGeom>
          <a:solidFill>
            <a:schemeClr val="lt1"/>
          </a:solidFill>
          <a:ln w="6350">
            <a:solidFill>
              <a:prstClr val="black"/>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Bef>
                <a:spcPts val="0"/>
              </a:spcBef>
              <a:spcAft>
                <a:spcPts val="800"/>
              </a:spcAft>
            </a:pPr>
            <a:r>
              <a:rPr lang="en-US" sz="1200" b="1">
                <a:solidFill>
                  <a:srgbClr val="000000"/>
                </a:solidFill>
                <a:effectLst/>
                <a:latin typeface="Calibri" panose="020F0502020204030204" pitchFamily="34" charset="0"/>
                <a:ea typeface="Calibri" panose="020F0502020204030204" pitchFamily="34" charset="0"/>
              </a:rPr>
              <a:t>Update conversation</a:t>
            </a:r>
            <a:endParaRPr lang="en-US" sz="1100">
              <a:solidFill>
                <a:srgbClr val="000000"/>
              </a:solidFill>
              <a:effectLst/>
              <a:latin typeface="Calibri" panose="020F0502020204030204" pitchFamily="34" charset="0"/>
              <a:ea typeface="Calibri" panose="020F0502020204030204" pitchFamily="34" charset="0"/>
            </a:endParaRPr>
          </a:p>
        </p:txBody>
      </p:sp>
      <p:sp>
        <p:nvSpPr>
          <p:cNvPr id="20" name="Arrow: Right 19">
            <a:extLst>
              <a:ext uri="{FF2B5EF4-FFF2-40B4-BE49-F238E27FC236}">
                <a16:creationId xmlns:a16="http://schemas.microsoft.com/office/drawing/2014/main" id="{A38F6A38-FFE0-45E8-9378-5E4B1AFC53D9}"/>
              </a:ext>
            </a:extLst>
          </p:cNvPr>
          <p:cNvSpPr/>
          <p:nvPr/>
        </p:nvSpPr>
        <p:spPr>
          <a:xfrm rot="12513710">
            <a:off x="3619431" y="4058778"/>
            <a:ext cx="3092794" cy="338667"/>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8" name="Arrow: Right 17">
            <a:extLst>
              <a:ext uri="{FF2B5EF4-FFF2-40B4-BE49-F238E27FC236}">
                <a16:creationId xmlns:a16="http://schemas.microsoft.com/office/drawing/2014/main" id="{8FD403B1-A47D-4135-B249-5631074C0049}"/>
              </a:ext>
            </a:extLst>
          </p:cNvPr>
          <p:cNvSpPr/>
          <p:nvPr/>
        </p:nvSpPr>
        <p:spPr>
          <a:xfrm rot="1755143">
            <a:off x="3615931" y="4941978"/>
            <a:ext cx="3102195" cy="338667"/>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213891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67697"/>
            <a:ext cx="1097280" cy="1097280"/>
          </a:xfrm>
          <a:prstGeom prst="rect">
            <a:avLst/>
          </a:prstGeom>
        </p:spPr>
      </p:pic>
      <p:sp>
        <p:nvSpPr>
          <p:cNvPr id="11" name="Title 9">
            <a:extLst>
              <a:ext uri="{FF2B5EF4-FFF2-40B4-BE49-F238E27FC236}">
                <a16:creationId xmlns:a16="http://schemas.microsoft.com/office/drawing/2014/main" id="{9875C6D5-EE7C-46B0-BAD7-6B98B06E8232}"/>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Result</a:t>
            </a:r>
          </a:p>
        </p:txBody>
      </p:sp>
      <p:pic>
        <p:nvPicPr>
          <p:cNvPr id="3" name="Picture 2">
            <a:extLst>
              <a:ext uri="{FF2B5EF4-FFF2-40B4-BE49-F238E27FC236}">
                <a16:creationId xmlns:a16="http://schemas.microsoft.com/office/drawing/2014/main" id="{66593907-4F61-4D4F-A697-5134148CE3E8}"/>
              </a:ext>
            </a:extLst>
          </p:cNvPr>
          <p:cNvPicPr>
            <a:picLocks noChangeAspect="1"/>
          </p:cNvPicPr>
          <p:nvPr/>
        </p:nvPicPr>
        <p:blipFill>
          <a:blip r:embed="rId5"/>
          <a:stretch>
            <a:fillRect/>
          </a:stretch>
        </p:blipFill>
        <p:spPr>
          <a:xfrm>
            <a:off x="3855065" y="1496477"/>
            <a:ext cx="5112624" cy="3865046"/>
          </a:xfrm>
          <a:prstGeom prst="rect">
            <a:avLst/>
          </a:prstGeom>
        </p:spPr>
      </p:pic>
    </p:spTree>
    <p:extLst>
      <p:ext uri="{BB962C8B-B14F-4D97-AF65-F5344CB8AC3E}">
        <p14:creationId xmlns:p14="http://schemas.microsoft.com/office/powerpoint/2010/main" val="2854762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67697"/>
            <a:ext cx="1097280" cy="1097280"/>
          </a:xfrm>
          <a:prstGeom prst="rect">
            <a:avLst/>
          </a:prstGeom>
        </p:spPr>
      </p:pic>
      <p:sp>
        <p:nvSpPr>
          <p:cNvPr id="11" name="Title 9">
            <a:extLst>
              <a:ext uri="{FF2B5EF4-FFF2-40B4-BE49-F238E27FC236}">
                <a16:creationId xmlns:a16="http://schemas.microsoft.com/office/drawing/2014/main" id="{9875C6D5-EE7C-46B0-BAD7-6B98B06E8232}"/>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Result</a:t>
            </a:r>
          </a:p>
        </p:txBody>
      </p:sp>
      <p:pic>
        <p:nvPicPr>
          <p:cNvPr id="6" name="Picture 5">
            <a:extLst>
              <a:ext uri="{FF2B5EF4-FFF2-40B4-BE49-F238E27FC236}">
                <a16:creationId xmlns:a16="http://schemas.microsoft.com/office/drawing/2014/main" id="{22E828AE-F43D-46BC-AF4E-CA8BD6782FBE}"/>
              </a:ext>
            </a:extLst>
          </p:cNvPr>
          <p:cNvPicPr/>
          <p:nvPr/>
        </p:nvPicPr>
        <p:blipFill rotWithShape="1">
          <a:blip r:embed="rId5"/>
          <a:srcRect l="2021" t="2170" r="3243" b="11305"/>
          <a:stretch/>
        </p:blipFill>
        <p:spPr bwMode="auto">
          <a:xfrm>
            <a:off x="3761475" y="1747837"/>
            <a:ext cx="4669050" cy="33623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879659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67697"/>
            <a:ext cx="1097280" cy="1097280"/>
          </a:xfrm>
          <a:prstGeom prst="rect">
            <a:avLst/>
          </a:prstGeom>
        </p:spPr>
      </p:pic>
      <p:sp>
        <p:nvSpPr>
          <p:cNvPr id="11" name="Title 9">
            <a:extLst>
              <a:ext uri="{FF2B5EF4-FFF2-40B4-BE49-F238E27FC236}">
                <a16:creationId xmlns:a16="http://schemas.microsoft.com/office/drawing/2014/main" id="{9875C6D5-EE7C-46B0-BAD7-6B98B06E8232}"/>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Result</a:t>
            </a:r>
          </a:p>
        </p:txBody>
      </p:sp>
      <p:pic>
        <p:nvPicPr>
          <p:cNvPr id="7" name="Picture 6">
            <a:extLst>
              <a:ext uri="{FF2B5EF4-FFF2-40B4-BE49-F238E27FC236}">
                <a16:creationId xmlns:a16="http://schemas.microsoft.com/office/drawing/2014/main" id="{EC9C4207-7345-4DDA-9717-C095957FB6FE}"/>
              </a:ext>
            </a:extLst>
          </p:cNvPr>
          <p:cNvPicPr/>
          <p:nvPr/>
        </p:nvPicPr>
        <p:blipFill>
          <a:blip r:embed="rId5"/>
          <a:stretch>
            <a:fillRect/>
          </a:stretch>
        </p:blipFill>
        <p:spPr>
          <a:xfrm>
            <a:off x="2997941" y="1515110"/>
            <a:ext cx="6196118" cy="3827780"/>
          </a:xfrm>
          <a:prstGeom prst="rect">
            <a:avLst/>
          </a:prstGeom>
        </p:spPr>
      </p:pic>
    </p:spTree>
    <p:extLst>
      <p:ext uri="{BB962C8B-B14F-4D97-AF65-F5344CB8AC3E}">
        <p14:creationId xmlns:p14="http://schemas.microsoft.com/office/powerpoint/2010/main" val="1462910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67697"/>
            <a:ext cx="1097280" cy="1097280"/>
          </a:xfrm>
          <a:prstGeom prst="rect">
            <a:avLst/>
          </a:prstGeom>
        </p:spPr>
      </p:pic>
      <p:sp>
        <p:nvSpPr>
          <p:cNvPr id="11" name="Title 9">
            <a:extLst>
              <a:ext uri="{FF2B5EF4-FFF2-40B4-BE49-F238E27FC236}">
                <a16:creationId xmlns:a16="http://schemas.microsoft.com/office/drawing/2014/main" id="{9875C6D5-EE7C-46B0-BAD7-6B98B06E8232}"/>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Result</a:t>
            </a:r>
          </a:p>
        </p:txBody>
      </p:sp>
      <p:pic>
        <p:nvPicPr>
          <p:cNvPr id="6" name="Picture 5">
            <a:extLst>
              <a:ext uri="{FF2B5EF4-FFF2-40B4-BE49-F238E27FC236}">
                <a16:creationId xmlns:a16="http://schemas.microsoft.com/office/drawing/2014/main" id="{A095A68E-9F2C-47D8-9186-100B99BED3A2}"/>
              </a:ext>
            </a:extLst>
          </p:cNvPr>
          <p:cNvPicPr/>
          <p:nvPr/>
        </p:nvPicPr>
        <p:blipFill rotWithShape="1">
          <a:blip r:embed="rId5"/>
          <a:srcRect t="7227"/>
          <a:stretch/>
        </p:blipFill>
        <p:spPr bwMode="auto">
          <a:xfrm>
            <a:off x="3164681" y="1721749"/>
            <a:ext cx="5862638" cy="341450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072368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67697"/>
            <a:ext cx="1097280" cy="1097280"/>
          </a:xfrm>
          <a:prstGeom prst="rect">
            <a:avLst/>
          </a:prstGeom>
        </p:spPr>
      </p:pic>
      <p:sp>
        <p:nvSpPr>
          <p:cNvPr id="11" name="Title 9">
            <a:extLst>
              <a:ext uri="{FF2B5EF4-FFF2-40B4-BE49-F238E27FC236}">
                <a16:creationId xmlns:a16="http://schemas.microsoft.com/office/drawing/2014/main" id="{9875C6D5-EE7C-46B0-BAD7-6B98B06E8232}"/>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Result</a:t>
            </a:r>
          </a:p>
        </p:txBody>
      </p:sp>
      <p:pic>
        <p:nvPicPr>
          <p:cNvPr id="6" name="Picture 5">
            <a:extLst>
              <a:ext uri="{FF2B5EF4-FFF2-40B4-BE49-F238E27FC236}">
                <a16:creationId xmlns:a16="http://schemas.microsoft.com/office/drawing/2014/main" id="{BAC77E7A-7755-43BD-9007-F12B9D19A455}"/>
              </a:ext>
            </a:extLst>
          </p:cNvPr>
          <p:cNvPicPr/>
          <p:nvPr/>
        </p:nvPicPr>
        <p:blipFill rotWithShape="1">
          <a:blip r:embed="rId5"/>
          <a:srcRect t="6537"/>
          <a:stretch/>
        </p:blipFill>
        <p:spPr bwMode="auto">
          <a:xfrm>
            <a:off x="2890943" y="1631950"/>
            <a:ext cx="6410113" cy="359410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29901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Scales of Justice">
            <a:extLst>
              <a:ext uri="{FF2B5EF4-FFF2-40B4-BE49-F238E27FC236}">
                <a16:creationId xmlns:a16="http://schemas.microsoft.com/office/drawing/2014/main" id="{53025FED-9BCD-4BE9-B74C-707E5FD7402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267697"/>
            <a:ext cx="1097280" cy="1097280"/>
          </a:xfrm>
          <a:prstGeom prst="rect">
            <a:avLst/>
          </a:prstGeom>
        </p:spPr>
      </p:pic>
      <p:sp>
        <p:nvSpPr>
          <p:cNvPr id="11" name="Title 9">
            <a:extLst>
              <a:ext uri="{FF2B5EF4-FFF2-40B4-BE49-F238E27FC236}">
                <a16:creationId xmlns:a16="http://schemas.microsoft.com/office/drawing/2014/main" id="{9875C6D5-EE7C-46B0-BAD7-6B98B06E8232}"/>
              </a:ext>
            </a:extLst>
          </p:cNvPr>
          <p:cNvSpPr txBox="1">
            <a:spLocks/>
          </p:cNvSpPr>
          <p:nvPr/>
        </p:nvSpPr>
        <p:spPr>
          <a:xfrm>
            <a:off x="2074332" y="551958"/>
            <a:ext cx="4337045" cy="83714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Result</a:t>
            </a:r>
          </a:p>
        </p:txBody>
      </p:sp>
      <p:pic>
        <p:nvPicPr>
          <p:cNvPr id="6" name="Picture 5">
            <a:extLst>
              <a:ext uri="{FF2B5EF4-FFF2-40B4-BE49-F238E27FC236}">
                <a16:creationId xmlns:a16="http://schemas.microsoft.com/office/drawing/2014/main" id="{C3D631A8-B2AD-4F4C-9C4C-B687500135F7}"/>
              </a:ext>
            </a:extLst>
          </p:cNvPr>
          <p:cNvPicPr/>
          <p:nvPr/>
        </p:nvPicPr>
        <p:blipFill rotWithShape="1">
          <a:blip r:embed="rId5"/>
          <a:srcRect t="11453" b="11989"/>
          <a:stretch/>
        </p:blipFill>
        <p:spPr bwMode="auto">
          <a:xfrm>
            <a:off x="3005243" y="1642268"/>
            <a:ext cx="6181513" cy="3573463"/>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230689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phic 10" descr="Open Book">
            <a:extLst>
              <a:ext uri="{FF2B5EF4-FFF2-40B4-BE49-F238E27FC236}">
                <a16:creationId xmlns:a16="http://schemas.microsoft.com/office/drawing/2014/main" id="{74F96F41-7225-4663-82FF-F91A5C5D81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8200" y="441960"/>
            <a:ext cx="1097280" cy="1097280"/>
          </a:xfrm>
          <a:prstGeom prst="rect">
            <a:avLst/>
          </a:prstGeom>
        </p:spPr>
      </p:pic>
      <p:sp>
        <p:nvSpPr>
          <p:cNvPr id="12" name="Title 9">
            <a:extLst>
              <a:ext uri="{FF2B5EF4-FFF2-40B4-BE49-F238E27FC236}">
                <a16:creationId xmlns:a16="http://schemas.microsoft.com/office/drawing/2014/main" id="{A5F5D50F-E9A8-4B4F-9306-13E317EC9FE6}"/>
              </a:ext>
            </a:extLst>
          </p:cNvPr>
          <p:cNvSpPr txBox="1">
            <a:spLocks/>
          </p:cNvSpPr>
          <p:nvPr/>
        </p:nvSpPr>
        <p:spPr>
          <a:xfrm>
            <a:off x="2074332" y="551958"/>
            <a:ext cx="3158067" cy="837142"/>
          </a:xfrm>
          <a:prstGeom prst="rect">
            <a:avLst/>
          </a:prstGeom>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latin typeface="Dutch801 XBd BT" panose="02020903060505020304" pitchFamily="18" charset="0"/>
              </a:rPr>
              <a:t>Future Scope</a:t>
            </a:r>
          </a:p>
        </p:txBody>
      </p:sp>
      <p:sp>
        <p:nvSpPr>
          <p:cNvPr id="13" name="TextBox 12">
            <a:extLst>
              <a:ext uri="{FF2B5EF4-FFF2-40B4-BE49-F238E27FC236}">
                <a16:creationId xmlns:a16="http://schemas.microsoft.com/office/drawing/2014/main" id="{F2088A22-0DCB-4E0F-B0F9-1DF439880D59}"/>
              </a:ext>
            </a:extLst>
          </p:cNvPr>
          <p:cNvSpPr txBox="1"/>
          <p:nvPr/>
        </p:nvSpPr>
        <p:spPr>
          <a:xfrm>
            <a:off x="1083733" y="2387600"/>
            <a:ext cx="4275529" cy="2585323"/>
          </a:xfrm>
          <a:prstGeom prst="rect">
            <a:avLst/>
          </a:prstGeom>
          <a:noFill/>
        </p:spPr>
        <p:txBody>
          <a:bodyPr wrap="none" rtlCol="0">
            <a:spAutoFit/>
          </a:bodyPr>
          <a:lstStyle/>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Advanced Multimedia Features</a:t>
            </a: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Enhanced Security Measures</a:t>
            </a:r>
          </a:p>
          <a:p>
            <a:pPr marL="285750" indent="-285750">
              <a:buFont typeface="Arial" panose="020B0604020202020204" pitchFamily="34" charset="0"/>
              <a:buChar char="•"/>
            </a:pPr>
            <a:endParaRPr lang="en-US" b="1" dirty="0">
              <a:solidFill>
                <a:srgbClr val="000000"/>
              </a:solidFill>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Integration with External Services</a:t>
            </a:r>
          </a:p>
          <a:p>
            <a:pPr marL="285750" indent="-285750">
              <a:buFont typeface="Arial" panose="020B0604020202020204" pitchFamily="34" charset="0"/>
              <a:buChar char="•"/>
            </a:pPr>
            <a:endParaRPr lang="en-US" sz="1800" b="1" dirty="0">
              <a:solidFill>
                <a:srgbClr val="000000"/>
              </a:solidFill>
              <a:effectLst/>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Multiple groups according to users</a:t>
            </a:r>
          </a:p>
          <a:p>
            <a:pPr marL="285750" indent="-285750">
              <a:buFont typeface="Arial" panose="020B0604020202020204" pitchFamily="34" charset="0"/>
              <a:buChar char="•"/>
            </a:pPr>
            <a:endParaRPr lang="en-US" b="1" dirty="0">
              <a:solidFill>
                <a:srgbClr val="000000"/>
              </a:solidFill>
              <a:latin typeface="Artifakt Element Book" panose="020B0503050000020004" pitchFamily="34" charset="0"/>
              <a:ea typeface="Artifakt Element Book" panose="020B0503050000020004" pitchFamily="34" charset="0"/>
            </a:endParaRPr>
          </a:p>
          <a:p>
            <a:pPr marL="285750" indent="-285750">
              <a:buFont typeface="Arial" panose="020B0604020202020204" pitchFamily="34" charset="0"/>
              <a:buChar char="•"/>
            </a:pPr>
            <a:r>
              <a:rPr lang="en-US" sz="1800" b="1" dirty="0">
                <a:solidFill>
                  <a:srgbClr val="000000"/>
                </a:solidFill>
                <a:effectLst/>
                <a:latin typeface="Artifakt Element Book" panose="020B0503050000020004" pitchFamily="34" charset="0"/>
                <a:ea typeface="Artifakt Element Book" panose="020B0503050000020004" pitchFamily="34" charset="0"/>
              </a:rPr>
              <a:t>Cross-Platform Compatibility</a:t>
            </a:r>
            <a:endParaRPr lang="en-US" dirty="0">
              <a:latin typeface="Artifakt Element Book" panose="020B0503050000020004" pitchFamily="34" charset="0"/>
              <a:ea typeface="Artifakt Element Book" panose="020B0503050000020004" pitchFamily="34" charset="0"/>
            </a:endParaRPr>
          </a:p>
        </p:txBody>
      </p:sp>
      <p:pic>
        <p:nvPicPr>
          <p:cNvPr id="14" name="Picture 13">
            <a:extLst>
              <a:ext uri="{FF2B5EF4-FFF2-40B4-BE49-F238E27FC236}">
                <a16:creationId xmlns:a16="http://schemas.microsoft.com/office/drawing/2014/main" id="{62367E35-3840-410D-8D8C-1364D750465E}"/>
              </a:ext>
            </a:extLst>
          </p:cNvPr>
          <p:cNvPicPr>
            <a:picLocks noChangeAspect="1"/>
          </p:cNvPicPr>
          <p:nvPr/>
        </p:nvPicPr>
        <p:blipFill rotWithShape="1">
          <a:blip r:embed="rId5"/>
          <a:srcRect t="2447"/>
          <a:stretch/>
        </p:blipFill>
        <p:spPr>
          <a:xfrm>
            <a:off x="6561667" y="1697240"/>
            <a:ext cx="5305092" cy="4445363"/>
          </a:xfrm>
          <a:prstGeom prst="rect">
            <a:avLst/>
          </a:prstGeom>
        </p:spPr>
      </p:pic>
    </p:spTree>
    <p:extLst>
      <p:ext uri="{BB962C8B-B14F-4D97-AF65-F5344CB8AC3E}">
        <p14:creationId xmlns:p14="http://schemas.microsoft.com/office/powerpoint/2010/main" val="823963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descr="Chat">
            <a:extLst>
              <a:ext uri="{FF2B5EF4-FFF2-40B4-BE49-F238E27FC236}">
                <a16:creationId xmlns:a16="http://schemas.microsoft.com/office/drawing/2014/main" id="{EB71843F-0A0B-4317-B205-4B0A0B97C0F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8001" y="-1172633"/>
            <a:ext cx="9203266" cy="9203266"/>
          </a:xfrm>
          <a:prstGeom prst="rect">
            <a:avLst/>
          </a:prstGeom>
        </p:spPr>
      </p:pic>
      <p:sp>
        <p:nvSpPr>
          <p:cNvPr id="8" name="TextBox 7">
            <a:extLst>
              <a:ext uri="{FF2B5EF4-FFF2-40B4-BE49-F238E27FC236}">
                <a16:creationId xmlns:a16="http://schemas.microsoft.com/office/drawing/2014/main" id="{72F91337-4C96-4CFD-8ECD-7FCC53205540}"/>
              </a:ext>
            </a:extLst>
          </p:cNvPr>
          <p:cNvSpPr txBox="1"/>
          <p:nvPr/>
        </p:nvSpPr>
        <p:spPr>
          <a:xfrm>
            <a:off x="4631266" y="2705725"/>
            <a:ext cx="4073551" cy="1446550"/>
          </a:xfrm>
          <a:prstGeom prst="rect">
            <a:avLst/>
          </a:prstGeom>
          <a:noFill/>
        </p:spPr>
        <p:txBody>
          <a:bodyPr wrap="none" rtlCol="0">
            <a:spAutoFit/>
          </a:bodyPr>
          <a:lstStyle/>
          <a:p>
            <a:r>
              <a:rPr lang="en-US" sz="8800" b="1" dirty="0">
                <a:latin typeface="Dutch801 XBd BT" panose="02020903060505020304" pitchFamily="18" charset="0"/>
              </a:rPr>
              <a:t>Thanks</a:t>
            </a:r>
          </a:p>
        </p:txBody>
      </p:sp>
    </p:spTree>
    <p:extLst>
      <p:ext uri="{BB962C8B-B14F-4D97-AF65-F5344CB8AC3E}">
        <p14:creationId xmlns:p14="http://schemas.microsoft.com/office/powerpoint/2010/main" val="1283261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4781794_win32_fixed.potx" id="{FFA6945E-0D2E-49A3-B8AE-0157B47B7617}" vid="{3D53E5D5-FE42-40E3-89B4-70F55FAC326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Research presentation</Template>
  <TotalTime>166</TotalTime>
  <Words>2210</Words>
  <Application>Microsoft Office PowerPoint</Application>
  <PresentationFormat>Widescreen</PresentationFormat>
  <Paragraphs>265</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Artifakt Element Book</vt:lpstr>
      <vt:lpstr>Calibri</vt:lpstr>
      <vt:lpstr>Calibri Light</vt:lpstr>
      <vt:lpstr>Dutch801 XBd BT</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Roman Nihal</dc:creator>
  <cp:lastModifiedBy>Roman Nihal</cp:lastModifiedBy>
  <cp:revision>54</cp:revision>
  <dcterms:created xsi:type="dcterms:W3CDTF">2023-12-29T12:23:19Z</dcterms:created>
  <dcterms:modified xsi:type="dcterms:W3CDTF">2023-12-29T19:13:57Z</dcterms:modified>
</cp:coreProperties>
</file>